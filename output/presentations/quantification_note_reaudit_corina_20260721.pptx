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85aaef4ade47c7" /><Relationship Type="http://schemas.openxmlformats.org/officeDocument/2006/relationships/extended-properties" Target="/docProps/app.xml" Id="R278fb67b6c7e49ca" /><Relationship Type="http://schemas.openxmlformats.org/officeDocument/2006/relationships/officeDocument" Target="/ppt/presentation.xml" Id="R224f218de5de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7c27da06044ad3"/>
  </p:sldMasterIdLst>
  <p:notesMasterIdLst>
    <p:notesMasterId xmlns:r="http://schemas.openxmlformats.org/officeDocument/2006/relationships" r:id="Rf1d61efb5cde4362"/>
  </p:notesMasterIdLst>
  <p:sldIdLst>
    <p:sldId xmlns:r="http://schemas.openxmlformats.org/officeDocument/2006/relationships" id="256" r:id="R0f5a420526984891"/>
    <p:sldId xmlns:r="http://schemas.openxmlformats.org/officeDocument/2006/relationships" id="257" r:id="Re0f341821ae4491b"/>
    <p:sldId xmlns:r="http://schemas.openxmlformats.org/officeDocument/2006/relationships" id="258" r:id="R61f31a481b2e4ccb"/>
    <p:sldId xmlns:r="http://schemas.openxmlformats.org/officeDocument/2006/relationships" id="259" r:id="R8e984c0af2f04569"/>
    <p:sldId xmlns:r="http://schemas.openxmlformats.org/officeDocument/2006/relationships" id="260" r:id="R15396155ce3d4029"/>
    <p:sldId xmlns:r="http://schemas.openxmlformats.org/officeDocument/2006/relationships" id="261" r:id="R66b947517ee8412e"/>
    <p:sldId xmlns:r="http://schemas.openxmlformats.org/officeDocument/2006/relationships" id="262" r:id="R7ffb5d5707e94037"/>
    <p:sldId xmlns:r="http://schemas.openxmlformats.org/officeDocument/2006/relationships" id="263" r:id="R1e29fbf1fc7b404e"/>
    <p:sldId xmlns:r="http://schemas.openxmlformats.org/officeDocument/2006/relationships" id="264" r:id="Rec8a167259234075"/>
    <p:sldId xmlns:r="http://schemas.openxmlformats.org/officeDocument/2006/relationships" id="265" r:id="R44e5874aa5694a6f"/>
    <p:sldId xmlns:r="http://schemas.openxmlformats.org/officeDocument/2006/relationships" id="266" r:id="Ra62da43042384169"/>
    <p:sldId xmlns:r="http://schemas.openxmlformats.org/officeDocument/2006/relationships" id="267" r:id="Rcdd4e816aa3d426f"/>
    <p:sldId xmlns:r="http://schemas.openxmlformats.org/officeDocument/2006/relationships" id="268" r:id="Rd53ccb3d71a0482b"/>
    <p:sldId xmlns:r="http://schemas.openxmlformats.org/officeDocument/2006/relationships" id="269" r:id="Rdb4ee32557284441"/>
    <p:sldId xmlns:r="http://schemas.openxmlformats.org/officeDocument/2006/relationships" id="270" r:id="R683b50f9f74b4386"/>
    <p:sldId xmlns:r="http://schemas.openxmlformats.org/officeDocument/2006/relationships" id="271" r:id="R0c7b6f6275dc4e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cc2220e7942d9" /><Relationship Type="http://schemas.openxmlformats.org/officeDocument/2006/relationships/slideMaster" Target="/ppt/slideMasters/slideMaster1.xml" Id="Rf87c27da06044ad3" /><Relationship Type="http://schemas.openxmlformats.org/officeDocument/2006/relationships/notesMaster" Target="/ppt/notesMasters/notesMaster1.xml" Id="Rf1d61efb5cde4362" /><Relationship Type="http://schemas.openxmlformats.org/officeDocument/2006/relationships/presProps" Target="/ppt/presProps.xml" Id="Rf27caf4ead1d49ad" /><Relationship Type="http://schemas.openxmlformats.org/officeDocument/2006/relationships/tableStyles" Target="/ppt/tableStyles.xml" Id="Rac1d0a55957842ea" /><Relationship Type="http://schemas.openxmlformats.org/officeDocument/2006/relationships/slide" Target="/ppt/slides/slide1.xml" Id="R0f5a420526984891" /><Relationship Type="http://schemas.openxmlformats.org/officeDocument/2006/relationships/slide" Target="/ppt/slides/slide2.xml" Id="Re0f341821ae4491b" /><Relationship Type="http://schemas.openxmlformats.org/officeDocument/2006/relationships/slide" Target="/ppt/slides/slide3.xml" Id="R61f31a481b2e4ccb" /><Relationship Type="http://schemas.openxmlformats.org/officeDocument/2006/relationships/slide" Target="/ppt/slides/slide4.xml" Id="R8e984c0af2f04569" /><Relationship Type="http://schemas.openxmlformats.org/officeDocument/2006/relationships/slide" Target="/ppt/slides/slide5.xml" Id="R15396155ce3d4029" /><Relationship Type="http://schemas.openxmlformats.org/officeDocument/2006/relationships/slide" Target="/ppt/slides/slide6.xml" Id="R66b947517ee8412e" /><Relationship Type="http://schemas.openxmlformats.org/officeDocument/2006/relationships/slide" Target="/ppt/slides/slide7.xml" Id="R7ffb5d5707e94037" /><Relationship Type="http://schemas.openxmlformats.org/officeDocument/2006/relationships/slide" Target="/ppt/slides/slide8.xml" Id="R1e29fbf1fc7b404e" /><Relationship Type="http://schemas.openxmlformats.org/officeDocument/2006/relationships/slide" Target="/ppt/slides/slide9.xml" Id="Rec8a167259234075" /><Relationship Type="http://schemas.openxmlformats.org/officeDocument/2006/relationships/slide" Target="/ppt/slides/slide10.xml" Id="R44e5874aa5694a6f" /><Relationship Type="http://schemas.openxmlformats.org/officeDocument/2006/relationships/slide" Target="/ppt/slides/slide11.xml" Id="Ra62da43042384169" /><Relationship Type="http://schemas.openxmlformats.org/officeDocument/2006/relationships/slide" Target="/ppt/slides/slide12.xml" Id="Rcdd4e816aa3d426f" /><Relationship Type="http://schemas.openxmlformats.org/officeDocument/2006/relationships/slide" Target="/ppt/slides/slide13.xml" Id="Rd53ccb3d71a0482b" /><Relationship Type="http://schemas.openxmlformats.org/officeDocument/2006/relationships/slide" Target="/ppt/slides/slide14.xml" Id="Rdb4ee32557284441" /><Relationship Type="http://schemas.openxmlformats.org/officeDocument/2006/relationships/slide" Target="/ppt/slides/slide15.xml" Id="R683b50f9f74b4386" /><Relationship Type="http://schemas.openxmlformats.org/officeDocument/2006/relationships/slide" Target="/ppt/slides/slide16.xml" Id="R0c7b6f6275dc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6ec3af91c43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7de772f60478c" /><Relationship Type="http://schemas.openxmlformats.org/officeDocument/2006/relationships/notesMaster" Target="/ppt/notesMasters/notesMaster1.xml" Id="R870374fb1bb34a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01b452ef464fc4" /><Relationship Type="http://schemas.openxmlformats.org/officeDocument/2006/relationships/notesMaster" Target="/ppt/notesMasters/notesMaster1.xml" Id="R659f2f2df4724b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959555fe94098" /><Relationship Type="http://schemas.openxmlformats.org/officeDocument/2006/relationships/notesMaster" Target="/ppt/notesMasters/notesMaster1.xml" Id="R76164b0a0903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4e34c70aba4ca8" /><Relationship Type="http://schemas.openxmlformats.org/officeDocument/2006/relationships/notesMaster" Target="/ppt/notesMasters/notesMaster1.xml" Id="Red7c9a1ca484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8a6386345444b2" /><Relationship Type="http://schemas.openxmlformats.org/officeDocument/2006/relationships/notesMaster" Target="/ppt/notesMasters/notesMaster1.xml" Id="R891a9148a464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b83de8d914f31" /><Relationship Type="http://schemas.openxmlformats.org/officeDocument/2006/relationships/notesMaster" Target="/ppt/notesMasters/notesMaster1.xml" Id="R54df42048e674a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ecd534136452a" /><Relationship Type="http://schemas.openxmlformats.org/officeDocument/2006/relationships/notesMaster" Target="/ppt/notesMasters/notesMaster1.xml" Id="Rc593298832a5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b5673b1f0d44c7" /><Relationship Type="http://schemas.openxmlformats.org/officeDocument/2006/relationships/notesMaster" Target="/ppt/notesMasters/notesMaster1.xml" Id="Rc1023009f244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6bd7879fb4246" /><Relationship Type="http://schemas.openxmlformats.org/officeDocument/2006/relationships/notesMaster" Target="/ppt/notesMasters/notesMaster1.xml" Id="R4320a5fd436948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96e87b82754362" /><Relationship Type="http://schemas.openxmlformats.org/officeDocument/2006/relationships/notesMaster" Target="/ppt/notesMasters/notesMaster1.xml" Id="R25b77b792db94f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aa710a3f674d18" /><Relationship Type="http://schemas.openxmlformats.org/officeDocument/2006/relationships/notesMaster" Target="/ppt/notesMasters/notesMaster1.xml" Id="Ra6e1f52ba32542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3300f0f16b4ce7" /><Relationship Type="http://schemas.openxmlformats.org/officeDocument/2006/relationships/notesMaster" Target="/ppt/notesMasters/notesMaster1.xml" Id="R036272c28b544f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208ff252bf4e37" /><Relationship Type="http://schemas.openxmlformats.org/officeDocument/2006/relationships/notesMaster" Target="/ppt/notesMasters/notesMaster1.xml" Id="R3eaf11fb17d34d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4312b47b214452" /><Relationship Type="http://schemas.openxmlformats.org/officeDocument/2006/relationships/notesMaster" Target="/ppt/notesMasters/notesMaster1.xml" Id="R293b587abcdc4b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f32d9721d34ddd" /><Relationship Type="http://schemas.openxmlformats.org/officeDocument/2006/relationships/notesMaster" Target="/ppt/notesMasters/notesMaster1.xml" Id="R47a513b7175a45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83cc9fac8646e9" /><Relationship Type="http://schemas.openxmlformats.org/officeDocument/2006/relationships/notesMaster" Target="/ppt/notesMasters/notesMaster1.xml" Id="Rc6dad88327d0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f41a6f3104d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222dcfa984946" /><Relationship Type="http://schemas.openxmlformats.org/officeDocument/2006/relationships/slideLayout" Target="/ppt/slideLayouts/slideLayout1.xml" Id="R5d61be94f6e54b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1be94f6e54b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feadaba394b95" /><Relationship Type="http://schemas.openxmlformats.org/officeDocument/2006/relationships/notesSlide" Target="/ppt/notesSlides/notesSlide1.xml" Id="R32cd1d7ea91d45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ad3c8e68446b9" /><Relationship Type="http://schemas.openxmlformats.org/officeDocument/2006/relationships/notesSlide" Target="/ppt/notesSlides/notesSlide2.xml" Id="R4ad40f0df60f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5d26ba91d432c" /><Relationship Type="http://schemas.openxmlformats.org/officeDocument/2006/relationships/notesSlide" Target="/ppt/notesSlides/notesSlide3.xml" Id="Red64a9866e9c48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3c6e66494439b" /><Relationship Type="http://schemas.openxmlformats.org/officeDocument/2006/relationships/notesSlide" Target="/ppt/notesSlides/notesSlide4.xml" Id="Ra4388be7be11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632a77df24dab" /><Relationship Type="http://schemas.openxmlformats.org/officeDocument/2006/relationships/notesSlide" Target="/ppt/notesSlides/notesSlide5.xml" Id="R52fa2c2477c8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b9dc53c54871" /><Relationship Type="http://schemas.openxmlformats.org/officeDocument/2006/relationships/chart" Target="/ppt/slides/charts/chart1.xml" Id="R93e93591a0134b6f" /><Relationship Type="http://schemas.openxmlformats.org/officeDocument/2006/relationships/notesSlide" Target="/ppt/notesSlides/notesSlide6.xml" Id="R43c36052a4f144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f193b5c1a456f" /><Relationship Type="http://schemas.openxmlformats.org/officeDocument/2006/relationships/notesSlide" Target="/ppt/notesSlides/notesSlide7.xml" Id="R6f6edab410184a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dbd23ee24882" /><Relationship Type="http://schemas.openxmlformats.org/officeDocument/2006/relationships/chart" Target="/ppt/slides/charts/chart2.xml" Id="Re8886a6a53ae41ca" /><Relationship Type="http://schemas.openxmlformats.org/officeDocument/2006/relationships/notesSlide" Target="/ppt/notesSlides/notesSlide8.xml" Id="Re75547850d8a41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79a16b35247b4" /><Relationship Type="http://schemas.openxmlformats.org/officeDocument/2006/relationships/notesSlide" Target="/ppt/notesSlides/notesSlide9.xml" Id="R14ad63f620f3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d1be2b4f4167" /><Relationship Type="http://schemas.openxmlformats.org/officeDocument/2006/relationships/notesSlide" Target="/ppt/notesSlides/notesSlide10.xml" Id="Re02e3f3a067e4a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940e231574f65" /><Relationship Type="http://schemas.openxmlformats.org/officeDocument/2006/relationships/notesSlide" Target="/ppt/notesSlides/notesSlide11.xml" Id="Rf3858a705e9443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f0dfa08e84977" /><Relationship Type="http://schemas.openxmlformats.org/officeDocument/2006/relationships/notesSlide" Target="/ppt/notesSlides/notesSlide12.xml" Id="R9912628d62ac47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690a0d1f74aa4" /><Relationship Type="http://schemas.openxmlformats.org/officeDocument/2006/relationships/notesSlide" Target="/ppt/notesSlides/notesSlide13.xml" Id="R038b1180b2194d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ebf6630ab40f5" /><Relationship Type="http://schemas.openxmlformats.org/officeDocument/2006/relationships/notesSlide" Target="/ppt/notesSlides/notesSlide14.xml" Id="Rbaf085157aee4e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80f114d3541ed" /><Relationship Type="http://schemas.openxmlformats.org/officeDocument/2006/relationships/notesSlide" Target="/ppt/notesSlides/notesSlide15.xml" Id="R21d92e4678024a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20392ee094d81" /><Relationship Type="http://schemas.openxmlformats.org/officeDocument/2006/relationships/notesSlide" Target="/ppt/notesSlides/notesSlide16.xml" Id="R029bb5d29a8346a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Loss contribution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Old own</c:v>
              </c:pt>
              <c:pt idx="1">
                <c:v>Prime own</c:v>
              </c:pt>
              <c:pt idx="2">
                <c:v>Large home</c:v>
              </c:pt>
              <c:pt idx="3">
                <c:v>3+ rooms</c:v>
              </c:pt>
              <c:pt idx="4">
                <c:v>Young own</c:v>
              </c:pt>
              <c:pt idx="5">
                <c:v>Fertility</c:v>
              </c:pt>
              <c:pt idx="6">
                <c:v>Young wealth</c:v>
              </c:pt>
            </c:strLit>
          </c:cat>
          <c:val>
            <c:numLit>
              <c:formatCode>General</c:formatCode>
              <c:ptCount val="7"/>
              <c:pt idx="0">
                <c:v>5.7594</c:v>
              </c:pt>
              <c:pt idx="1">
                <c:v>0.6873</c:v>
              </c:pt>
              <c:pt idx="2">
                <c:v>0.6725</c:v>
              </c:pt>
              <c:pt idx="3">
                <c:v>0.4599</c:v>
              </c:pt>
              <c:pt idx="4">
                <c:v>0.3562</c:v>
              </c:pt>
              <c:pt idx="5">
                <c:v>0.271</c:v>
              </c:pt>
              <c:pt idx="6">
                <c:v>0.2653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M5</c:v>
          </c:tx>
          <c:spPr>
            <a:ln xmlns:a="http://schemas.openxmlformats.org/drawingml/2006/main" w="38100">
              <a:solidFill>
                <a:srgbClr val="D94B4B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62</c:v>
              </c:pt>
              <c:pt idx="1">
                <c:v>66</c:v>
              </c:pt>
              <c:pt idx="2">
                <c:v>70</c:v>
              </c:pt>
              <c:pt idx="3">
                <c:v>74</c:v>
              </c:pt>
              <c:pt idx="4">
                <c:v>78</c:v>
              </c:pt>
              <c:pt idx="5">
                <c:v>82</c:v>
              </c:pt>
            </c:numLit>
          </c:cat>
          <c:val>
            <c:numLit>
              <c:formatCode>0%</c:formatCode>
              <c:ptCount val="6"/>
              <c:pt idx="0">
                <c:v>0.9462</c:v>
              </c:pt>
              <c:pt idx="1">
                <c:v>0.9521</c:v>
              </c:pt>
              <c:pt idx="2">
                <c:v>0.9549</c:v>
              </c:pt>
              <c:pt idx="3">
                <c:v>0.9552</c:v>
              </c:pt>
              <c:pt idx="4">
                <c:v>0.9505</c:v>
              </c:pt>
              <c:pt idx="5">
                <c:v>0.9084</c:v>
              </c:pt>
            </c:numLit>
          </c:val>
        </c:ser>
        <c:ser>
          <c:idx val="1"/>
          <c:order val="1"/>
          <c:tx>
            <c:v>ACS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62</c:v>
              </c:pt>
              <c:pt idx="1">
                <c:v>66</c:v>
              </c:pt>
              <c:pt idx="2">
                <c:v>70</c:v>
              </c:pt>
              <c:pt idx="3">
                <c:v>74</c:v>
              </c:pt>
              <c:pt idx="4">
                <c:v>78</c:v>
              </c:pt>
              <c:pt idx="5">
                <c:v>82</c:v>
              </c:pt>
            </c:numLit>
          </c:cat>
          <c:val>
            <c:numLit>
              <c:formatCode>0%</c:formatCode>
              <c:ptCount val="6"/>
              <c:pt idx="0">
                <c:v>0.7442</c:v>
              </c:pt>
              <c:pt idx="1">
                <c:v>0.7592</c:v>
              </c:pt>
              <c:pt idx="2">
                <c:v>0.7699</c:v>
              </c:pt>
              <c:pt idx="3">
                <c:v>0.7759</c:v>
              </c:pt>
              <c:pt idx="4">
                <c:v>0.7605</c:v>
              </c:pt>
              <c:pt idx="5">
                <c:v>0.7481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F4BECEE-56C4-4495-9D12-4CD8538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CORINA MEETING · JULY 21,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FA3CB9-0C3A-4F57-98E5-85A003D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we circulated —
and what survives the audit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03C400E-12DD-413C-BA1F-85994EEB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763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calibration note · reconstruction, weak points, and post-circulation evidence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2ED9AD5-3396-4C1D-AD86-1C536D5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34075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Tommaso De Santo</a:t>
            </a:r>
          </a:p>
        </p:txBody>
      </p:sp>
    </p:spTree>
    <p:extLst>
      <p:ext uri="{BB962C8B-B14F-4D97-AF65-F5344CB8AC3E}">
        <p14:creationId xmlns:p14="http://schemas.microsoft.com/office/powerpoint/2010/main" val="368824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D76356BA-45C4-4C1A-9CDE-98A430ED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arithmetic survives; the interpretation needs tightening</a:t>
            </a:r>
          </a:p>
        </p:txBody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A5A44897-1889-4395-B995-4C751BB7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source-footer-2">
            <a:extLst xmlns:a="http://schemas.openxmlformats.org/drawingml/2006/main">
              <a:ext uri="{FF2B5EF4-FFF2-40B4-BE49-F238E27FC236}">
                <a16:creationId xmlns:a16="http://schemas.microsoft.com/office/drawing/2014/main" id="{CE2EF0DD-A34B-4334-9D3C-7277224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circulated PDF; M5 report; M5 identification audit</a:t>
            </a:r>
          </a:p>
        </p:txBody>
      </p:sp>
      <p:sp>
        <p:nvSpPr>
          <p:cNvPr id="4" name="verdict-copy">
            <a:extLst xmlns:a="http://schemas.openxmlformats.org/drawingml/2006/main">
              <a:ext uri="{FF2B5EF4-FFF2-40B4-BE49-F238E27FC236}">
                <a16:creationId xmlns:a16="http://schemas.microsoft.com/office/drawing/2014/main" id="{32765B07-62A5-46F5-B447-9FF951F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049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tables reproduce the exact M5 winner. The defensible claim is narrower: M5 is a provisional, weakly identified calibration for conditional mechanism analysis — not a set of precise structural estimates.</a:t>
            </a:r>
          </a:p>
        </p:txBody>
      </p:sp>
      <p:sp>
        <p:nvSpPr>
          <p:cNvPr id="5" name="metric-card-42">
            <a:extLst xmlns:a="http://schemas.openxmlformats.org/drawingml/2006/main">
              <a:ext uri="{FF2B5EF4-FFF2-40B4-BE49-F238E27FC236}">
                <a16:creationId xmlns:a16="http://schemas.microsoft.com/office/drawing/2014/main" id="{AD2B6471-D2DB-4FAF-B713-6CE5EC8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metric-stat-42">
            <a:extLst xmlns:a="http://schemas.openxmlformats.org/drawingml/2006/main">
              <a:ext uri="{FF2B5EF4-FFF2-40B4-BE49-F238E27FC236}">
                <a16:creationId xmlns:a16="http://schemas.microsoft.com/office/drawing/2014/main" id="{96DAE7BB-4989-47BD-90E8-636D456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14 / 14</a:t>
            </a:r>
          </a:p>
        </p:txBody>
      </p:sp>
      <p:sp>
        <p:nvSpPr>
          <p:cNvPr id="7" name="metric-label-42">
            <a:extLst xmlns:a="http://schemas.openxmlformats.org/drawingml/2006/main">
              <a:ext uri="{FF2B5EF4-FFF2-40B4-BE49-F238E27FC236}">
                <a16:creationId xmlns:a16="http://schemas.microsoft.com/office/drawing/2014/main" id="{8DB86955-755E-4A68-8060-883EAC9F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parameter estimates reproduce</a:t>
            </a:r>
          </a:p>
        </p:txBody>
      </p:sp>
      <p:sp>
        <p:nvSpPr>
          <p:cNvPr id="8" name="metric-detail-42">
            <a:extLst xmlns:a="http://schemas.openxmlformats.org/drawingml/2006/main">
              <a:ext uri="{FF2B5EF4-FFF2-40B4-BE49-F238E27FC236}">
                <a16:creationId xmlns:a16="http://schemas.microsoft.com/office/drawing/2014/main" id="{E3A1B21F-2163-4744-A6AB-2E1D09B1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All reported estimates match the canonical strict Torch record.</a:t>
            </a:r>
          </a:p>
        </p:txBody>
      </p:sp>
      <p:sp>
        <p:nvSpPr>
          <p:cNvPr id="9" name="metric-card-455">
            <a:extLst xmlns:a="http://schemas.openxmlformats.org/drawingml/2006/main">
              <a:ext uri="{FF2B5EF4-FFF2-40B4-BE49-F238E27FC236}">
                <a16:creationId xmlns:a16="http://schemas.microsoft.com/office/drawing/2014/main" id="{8CF1BF21-E29F-4EE5-9955-030EDB49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metric-stat-455">
            <a:extLst xmlns:a="http://schemas.openxmlformats.org/drawingml/2006/main">
              <a:ext uri="{FF2B5EF4-FFF2-40B4-BE49-F238E27FC236}">
                <a16:creationId xmlns:a16="http://schemas.microsoft.com/office/drawing/2014/main" id="{42E7D5F8-9140-411D-94AB-4AEDACF0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15 / 15</a:t>
            </a:r>
          </a:p>
        </p:txBody>
      </p:sp>
      <p:sp>
        <p:nvSpPr>
          <p:cNvPr id="11" name="metric-label-455">
            <a:extLst xmlns:a="http://schemas.openxmlformats.org/drawingml/2006/main">
              <a:ext uri="{FF2B5EF4-FFF2-40B4-BE49-F238E27FC236}">
                <a16:creationId xmlns:a16="http://schemas.microsoft.com/office/drawing/2014/main" id="{8489E8EF-1ADC-49D2-A95B-113079D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moments reproduce</a:t>
            </a:r>
          </a:p>
        </p:txBody>
      </p:sp>
      <p:sp>
        <p:nvSpPr>
          <p:cNvPr id="12" name="metric-detail-455">
            <a:extLst xmlns:a="http://schemas.openxmlformats.org/drawingml/2006/main">
              <a:ext uri="{FF2B5EF4-FFF2-40B4-BE49-F238E27FC236}">
                <a16:creationId xmlns:a16="http://schemas.microsoft.com/office/drawing/2014/main" id="{83F6C247-FF5D-4E75-9069-281776E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The displayed target-fit arithmetic is exact.</a:t>
            </a:r>
          </a:p>
        </p:txBody>
      </p:sp>
      <p:sp>
        <p:nvSpPr>
          <p:cNvPr id="13" name="metric-card-868">
            <a:extLst xmlns:a="http://schemas.openxmlformats.org/drawingml/2006/main">
              <a:ext uri="{FF2B5EF4-FFF2-40B4-BE49-F238E27FC236}">
                <a16:creationId xmlns:a16="http://schemas.microsoft.com/office/drawing/2014/main" id="{082FD12F-B400-46DC-8DFF-8675C65E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metric-stat-868">
            <a:extLst xmlns:a="http://schemas.openxmlformats.org/drawingml/2006/main">
              <a:ext uri="{FF2B5EF4-FFF2-40B4-BE49-F238E27FC236}">
                <a16:creationId xmlns:a16="http://schemas.microsoft.com/office/drawing/2014/main" id="{265C0046-06F1-41D6-ABDB-428C5D98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9 / 14</a:t>
            </a:r>
          </a:p>
        </p:txBody>
      </p:sp>
      <p:sp>
        <p:nvSpPr>
          <p:cNvPr id="15" name="metric-label-868">
            <a:extLst xmlns:a="http://schemas.openxmlformats.org/drawingml/2006/main">
              <a:ext uri="{FF2B5EF4-FFF2-40B4-BE49-F238E27FC236}">
                <a16:creationId xmlns:a16="http://schemas.microsoft.com/office/drawing/2014/main" id="{FF480FB2-3FE8-4317-BDAC-BAD3EEEB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effective rank at 1%</a:t>
            </a:r>
          </a:p>
        </p:txBody>
      </p:sp>
      <p:sp>
        <p:nvSpPr>
          <p:cNvPr id="16" name="metric-detail-868">
            <a:extLst xmlns:a="http://schemas.openxmlformats.org/drawingml/2006/main">
              <a:ext uri="{FF2B5EF4-FFF2-40B4-BE49-F238E27FC236}">
                <a16:creationId xmlns:a16="http://schemas.microsoft.com/office/drawing/2014/main" id="{958FFDF9-2D44-4A7C-B281-8ABB299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Local parameter combinations remain weakly separated.</a:t>
            </a:r>
          </a:p>
        </p:txBody>
      </p:sp>
    </p:spTree>
    <p:extLst>
      <p:ext uri="{BB962C8B-B14F-4D97-AF65-F5344CB8AC3E}">
        <p14:creationId xmlns:p14="http://schemas.microsoft.com/office/powerpoint/2010/main" val="1337888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550356B-AA5C-489A-AFEF-8E8B1840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is a one-shot fertility model with a collateral shortcut</a:t>
            </a:r>
          </a:p>
        </p:txBody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36611C7F-F9A8-4726-8022-FF67D9C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source-footer-3">
            <a:extLst xmlns:a="http://schemas.openxmlformats.org/drawingml/2006/main">
              <a:ext uri="{FF2B5EF4-FFF2-40B4-BE49-F238E27FC236}">
                <a16:creationId xmlns:a16="http://schemas.microsoft.com/office/drawing/2014/main" id="{0AAA53CA-886A-48BA-AA3B-6157651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active M5 solver and implementation ledger</a:t>
            </a:r>
          </a:p>
        </p:txBody>
      </p:sp>
      <p:sp>
        <p:nvSpPr>
          <p:cNvPr id="4" name="arch-intro">
            <a:extLst xmlns:a="http://schemas.openxmlformats.org/drawingml/2006/main">
              <a:ext uri="{FF2B5EF4-FFF2-40B4-BE49-F238E27FC236}">
                <a16:creationId xmlns:a16="http://schemas.microsoft.com/office/drawing/2014/main" id="{DC13E2E7-3BEA-497E-9AEA-75F6F3C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953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The note is easiest to remember as three linked blocks. The mechanism runs from family needs to housing access to lifecycle balance sheets.</a:t>
            </a:r>
          </a:p>
        </p:txBody>
      </p:sp>
      <p:sp>
        <p:nvSpPr>
          <p:cNvPr id="5" name="arch-panel-0">
            <a:extLst xmlns:a="http://schemas.openxmlformats.org/drawingml/2006/main">
              <a:ext uri="{FF2B5EF4-FFF2-40B4-BE49-F238E27FC236}">
                <a16:creationId xmlns:a16="http://schemas.microsoft.com/office/drawing/2014/main" id="{4A2901C5-18AA-445E-B07B-B554B90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arch-head-0">
            <a:extLst xmlns:a="http://schemas.openxmlformats.org/drawingml/2006/main">
              <a:ext uri="{FF2B5EF4-FFF2-40B4-BE49-F238E27FC236}">
                <a16:creationId xmlns:a16="http://schemas.microsoft.com/office/drawing/2014/main" id="{970CDA40-FDE7-4807-ABD6-6A3D9601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990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Family formation</a:t>
            </a:r>
          </a:p>
        </p:txBody>
      </p:sp>
      <p:sp>
        <p:nvSpPr>
          <p:cNvPr id="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78FE07D5-BC0F-4E75-B55F-00E525D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908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One-shot completed family size
Children share one geometric maturity clock
No separate first- and second-birth hazards</a:t>
            </a:r>
          </a:p>
        </p:txBody>
      </p:sp>
      <p:sp>
        <p:nvSpPr>
          <p:cNvPr id="8" name="arch-panel-1">
            <a:extLst xmlns:a="http://schemas.openxmlformats.org/drawingml/2006/main">
              <a:ext uri="{FF2B5EF4-FFF2-40B4-BE49-F238E27FC236}">
                <a16:creationId xmlns:a16="http://schemas.microsoft.com/office/drawing/2014/main" id="{8FA82CEE-1B19-44EB-9929-F4139525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arch-head-1">
            <a:extLst xmlns:a="http://schemas.openxmlformats.org/drawingml/2006/main">
              <a:ext uri="{FF2B5EF4-FFF2-40B4-BE49-F238E27FC236}">
                <a16:creationId xmlns:a16="http://schemas.microsoft.com/office/drawing/2014/main" id="{0D343522-E342-4AF2-BFAD-9F73F06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28875"/>
            <a:ext cx="2990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Housing and tenure</a:t>
            </a:r>
          </a:p>
        </p:txBody>
      </p:sp>
      <p:sp>
        <p:nvSpPr>
          <p:cNvPr id="10" name="arch-body-1">
            <a:extLst xmlns:a="http://schemas.openxmlformats.org/drawingml/2006/main">
              <a:ext uri="{FF2B5EF4-FFF2-40B4-BE49-F238E27FC236}">
                <a16:creationId xmlns:a16="http://schemas.microsoft.com/office/drawing/2014/main" id="{B406168B-5845-4659-8C65-D1F5892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43250"/>
            <a:ext cx="29908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Continuous renting to 6 rooms
Owner rungs: 2, 4, 6, 8, 10
20% cash threshold; no mortgage contract</a:t>
            </a:r>
          </a:p>
        </p:txBody>
      </p:sp>
      <p:sp>
        <p:nvSpPr>
          <p:cNvPr id="11" name="arch-panel-2">
            <a:extLst xmlns:a="http://schemas.openxmlformats.org/drawingml/2006/main">
              <a:ext uri="{FF2B5EF4-FFF2-40B4-BE49-F238E27FC236}">
                <a16:creationId xmlns:a16="http://schemas.microsoft.com/office/drawing/2014/main" id="{3BD12035-118F-45B7-925B-5AA794C5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arch-head-2">
            <a:extLst xmlns:a="http://schemas.openxmlformats.org/drawingml/2006/main">
              <a:ext uri="{FF2B5EF4-FFF2-40B4-BE49-F238E27FC236}">
                <a16:creationId xmlns:a16="http://schemas.microsoft.com/office/drawing/2014/main" id="{D7FE9430-4A47-4357-8D2A-AE19BB2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28875"/>
            <a:ext cx="2990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Saving and bequests</a:t>
            </a:r>
          </a:p>
        </p:txBody>
      </p:sp>
      <p:sp>
        <p:nvSpPr>
          <p:cNvPr id="13" name="arch-body-2">
            <a:extLst xmlns:a="http://schemas.openxmlformats.org/drawingml/2006/main">
              <a:ext uri="{FF2B5EF4-FFF2-40B4-BE49-F238E27FC236}">
                <a16:creationId xmlns:a16="http://schemas.microsoft.com/office/drawing/2014/main" id="{E09C0CBD-CDB6-46DA-BAC7-84FD16F2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9908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Liquid wealth may be negative
Terminal estate is b + PH
House value enters gross of selling costs</a:t>
            </a:r>
          </a:p>
        </p:txBody>
      </p:sp>
    </p:spTree>
    <p:extLst>
      <p:ext uri="{BB962C8B-B14F-4D97-AF65-F5344CB8AC3E}">
        <p14:creationId xmlns:p14="http://schemas.microsoft.com/office/powerpoint/2010/main" val="209344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06734522-C0B7-44E8-8E83-259E79DB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 does not mean equally secure</a:t>
            </a:r>
          </a:p>
        </p:txBody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4B5570E4-B6FF-4964-8106-3E41E749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" name="source-footer-4">
            <a:extLst xmlns:a="http://schemas.openxmlformats.org/drawingml/2006/main">
              <a:ext uri="{FF2B5EF4-FFF2-40B4-BE49-F238E27FC236}">
                <a16:creationId xmlns:a16="http://schemas.microsoft.com/office/drawing/2014/main" id="{02524A63-DF84-4E7C-8BF0-CFE3CD5C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circulated note; Greaney et al. (2025); Saiz (2010); target reproduction audit</a:t>
            </a:r>
          </a:p>
        </p:txBody>
      </p:sp>
      <p:sp>
        <p:nvSpPr>
          <p:cNvPr id="4" name="external-anchored">
            <a:extLst xmlns:a="http://schemas.openxmlformats.org/drawingml/2006/main">
              <a:ext uri="{FF2B5EF4-FFF2-40B4-BE49-F238E27FC236}">
                <a16:creationId xmlns:a16="http://schemas.microsoft.com/office/drawing/2014/main" id="{16EFD531-7D5E-4308-8DAA-0D1F91AA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external-maintained">
            <a:extLst xmlns:a="http://schemas.openxmlformats.org/drawingml/2006/main">
              <a:ext uri="{FF2B5EF4-FFF2-40B4-BE49-F238E27FC236}">
                <a16:creationId xmlns:a16="http://schemas.microsoft.com/office/drawing/2014/main" id="{C066EE1C-6ECE-47CD-B70A-A2926D6F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external-provisional">
            <a:extLst xmlns:a="http://schemas.openxmlformats.org/drawingml/2006/main">
              <a:ext uri="{FF2B5EF4-FFF2-40B4-BE49-F238E27FC236}">
                <a16:creationId xmlns:a16="http://schemas.microsoft.com/office/drawing/2014/main" id="{F7788DFF-6E79-4DCD-98DA-BA43DAE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ext-h1">
            <a:extLst xmlns:a="http://schemas.openxmlformats.org/drawingml/2006/main">
              <a:ext uri="{FF2B5EF4-FFF2-40B4-BE49-F238E27FC236}">
                <a16:creationId xmlns:a16="http://schemas.microsoft.com/office/drawing/2014/main" id="{DF50BED0-BAAD-457E-A700-60DDB446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Externally anchored</a:t>
            </a:r>
          </a:p>
        </p:txBody>
      </p:sp>
      <p:sp>
        <p:nvSpPr>
          <p:cNvPr id="8" name="ext-b1">
            <a:extLst xmlns:a="http://schemas.openxmlformats.org/drawingml/2006/main">
              <a:ext uri="{FF2B5EF4-FFF2-40B4-BE49-F238E27FC236}">
                <a16:creationId xmlns:a16="http://schemas.microsoft.com/office/drawing/2014/main" id="{D883F996-E3EC-4F22-AE3D-E10DCC7F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8575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SSA survival
2% real return
1.1% depreciation
6% selling cost
17.9% payroll tax
PSID entrant wealth</a:t>
            </a:r>
          </a:p>
        </p:txBody>
      </p:sp>
      <p:sp>
        <p:nvSpPr>
          <p:cNvPr id="9" name="ext-h2">
            <a:extLst xmlns:a="http://schemas.openxmlformats.org/drawingml/2006/main">
              <a:ext uri="{FF2B5EF4-FFF2-40B4-BE49-F238E27FC236}">
                <a16:creationId xmlns:a16="http://schemas.microsoft.com/office/drawing/2014/main" id="{AC15980E-8101-415C-8796-5D634366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95500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901E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Maintained restrictions</a:t>
            </a:r>
          </a:p>
        </p:txBody>
      </p:sp>
      <p:sp>
        <p:nvSpPr>
          <p:cNvPr id="10" name="ext-b2">
            <a:extLst xmlns:a="http://schemas.openxmlformats.org/drawingml/2006/main">
              <a:ext uri="{FF2B5EF4-FFF2-40B4-BE49-F238E27FC236}">
                <a16:creationId xmlns:a16="http://schemas.microsoft.com/office/drawing/2014/main" id="{227A6ECD-8029-4296-B901-5ED823E7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857500" cy="2714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σ = 2
4-year period
20% down payment
1% property tax
Owner/renter menus
Supply elasticity 1.75
θₙ = 0</a:t>
            </a:r>
          </a:p>
        </p:txBody>
      </p:sp>
      <p:sp>
        <p:nvSpPr>
          <p:cNvPr id="11" name="ext-h3">
            <a:extLst xmlns:a="http://schemas.openxmlformats.org/drawingml/2006/main">
              <a:ext uri="{FF2B5EF4-FFF2-40B4-BE49-F238E27FC236}">
                <a16:creationId xmlns:a16="http://schemas.microsoft.com/office/drawing/2014/main" id="{0DED0293-6D30-47D7-A505-D6A6A22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Provisional</a:t>
            </a:r>
          </a:p>
        </p:txBody>
      </p:sp>
      <p:sp>
        <p:nvSpPr>
          <p:cNvPr id="12" name="ext-b3">
            <a:extLst xmlns:a="http://schemas.openxmlformats.org/drawingml/2006/main">
              <a:ext uri="{FF2B5EF4-FFF2-40B4-BE49-F238E27FC236}">
                <a16:creationId xmlns:a16="http://schemas.microsoft.com/office/drawing/2014/main" id="{BCDFB114-A624-455C-9775-D3EE74F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8575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Income persistence 0.960
Innovation s.d. 0.0645
Completed fertility 1.918
Childlessness 0.188
National one-market mapping</a:t>
            </a:r>
          </a:p>
        </p:txBody>
      </p:sp>
    </p:spTree>
    <p:extLst>
      <p:ext uri="{BB962C8B-B14F-4D97-AF65-F5344CB8AC3E}">
        <p14:creationId xmlns:p14="http://schemas.microsoft.com/office/powerpoint/2010/main" val="11375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DFDBA55E-0D92-46C5-9B49-B23AF5EB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14-by-15 system is overidentified only on paper</a:t>
            </a:r>
          </a:p>
        </p:txBody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049240E7-7A09-4592-AEDB-8DC4F666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source-footer-5">
            <a:extLst xmlns:a="http://schemas.openxmlformats.org/drawingml/2006/main">
              <a:ext uri="{FF2B5EF4-FFF2-40B4-BE49-F238E27FC236}">
                <a16:creationId xmlns:a16="http://schemas.microsoft.com/office/drawing/2014/main" id="{B867D77A-C884-4936-B8A9-0DCB375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M5 report and parameter table</a:t>
            </a:r>
          </a:p>
        </p:txBody>
      </p:sp>
      <p:sp>
        <p:nvSpPr>
          <p:cNvPr id="4" name="cal-free">
            <a:extLst xmlns:a="http://schemas.openxmlformats.org/drawingml/2006/main">
              <a:ext uri="{FF2B5EF4-FFF2-40B4-BE49-F238E27FC236}">
                <a16:creationId xmlns:a16="http://schemas.microsoft.com/office/drawing/2014/main" id="{49C6DF27-E3A6-46BE-99C0-DFD1AF8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cal-mom">
            <a:extLst xmlns:a="http://schemas.openxmlformats.org/drawingml/2006/main">
              <a:ext uri="{FF2B5EF4-FFF2-40B4-BE49-F238E27FC236}">
                <a16:creationId xmlns:a16="http://schemas.microsoft.com/office/drawing/2014/main" id="{308937AE-B95C-4438-AB37-AF33F7A1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l-loss">
            <a:extLst xmlns:a="http://schemas.openxmlformats.org/drawingml/2006/main">
              <a:ext uri="{FF2B5EF4-FFF2-40B4-BE49-F238E27FC236}">
                <a16:creationId xmlns:a16="http://schemas.microsoft.com/office/drawing/2014/main" id="{DB802D29-4E8D-4E4A-A3E8-D44E46A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cal-stat1">
            <a:extLst xmlns:a="http://schemas.openxmlformats.org/drawingml/2006/main">
              <a:ext uri="{FF2B5EF4-FFF2-40B4-BE49-F238E27FC236}">
                <a16:creationId xmlns:a16="http://schemas.microsoft.com/office/drawing/2014/main" id="{4CED1A6E-0E0A-4F9A-ADE5-3ADBE2C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8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8" name="cal-lab1">
            <a:extLst xmlns:a="http://schemas.openxmlformats.org/drawingml/2006/main">
              <a:ext uri="{FF2B5EF4-FFF2-40B4-BE49-F238E27FC236}">
                <a16:creationId xmlns:a16="http://schemas.microsoft.com/office/drawing/2014/main" id="{7A3A21F0-AAD9-4BDE-9457-37FC22DC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free parameters</a:t>
            </a:r>
          </a:p>
        </p:txBody>
      </p:sp>
      <p:sp>
        <p:nvSpPr>
          <p:cNvPr id="9" name="cal-det1">
            <a:extLst xmlns:a="http://schemas.openxmlformats.org/drawingml/2006/main">
              <a:ext uri="{FF2B5EF4-FFF2-40B4-BE49-F238E27FC236}">
                <a16:creationId xmlns:a16="http://schemas.microsoft.com/office/drawing/2014/main" id="{2D326949-B9F8-4493-A1B3-72A2F5C3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Needs, fertility, tenure,
supply, bequests</a:t>
            </a:r>
          </a:p>
        </p:txBody>
      </p:sp>
      <p:sp>
        <p:nvSpPr>
          <p:cNvPr id="10" name="cal-stat2">
            <a:extLst xmlns:a="http://schemas.openxmlformats.org/drawingml/2006/main">
              <a:ext uri="{FF2B5EF4-FFF2-40B4-BE49-F238E27FC236}">
                <a16:creationId xmlns:a16="http://schemas.microsoft.com/office/drawing/2014/main" id="{85C28BEF-3054-4D8B-8314-40C5BDE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81250"/>
            <a:ext cx="228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11" name="cal-lab2">
            <a:extLst xmlns:a="http://schemas.openxmlformats.org/drawingml/2006/main">
              <a:ext uri="{FF2B5EF4-FFF2-40B4-BE49-F238E27FC236}">
                <a16:creationId xmlns:a16="http://schemas.microsoft.com/office/drawing/2014/main" id="{9E666105-12D9-4C19-97FF-825E644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337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 moments</a:t>
            </a:r>
          </a:p>
        </p:txBody>
      </p:sp>
      <p:sp>
        <p:nvSpPr>
          <p:cNvPr id="12" name="cal-det2">
            <a:extLst xmlns:a="http://schemas.openxmlformats.org/drawingml/2006/main">
              <a:ext uri="{FF2B5EF4-FFF2-40B4-BE49-F238E27FC236}">
                <a16:creationId xmlns:a16="http://schemas.microsoft.com/office/drawing/2014/main" id="{B91BC50F-2AC4-43EB-8B04-4B7187E7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05250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Fertility, housing,
ownership, wealth</a:t>
            </a:r>
          </a:p>
        </p:txBody>
      </p:sp>
      <p:sp>
        <p:nvSpPr>
          <p:cNvPr id="13" name="cal-stat3">
            <a:extLst xmlns:a="http://schemas.openxmlformats.org/drawingml/2006/main">
              <a:ext uri="{FF2B5EF4-FFF2-40B4-BE49-F238E27FC236}">
                <a16:creationId xmlns:a16="http://schemas.microsoft.com/office/drawing/2014/main" id="{B5FE7161-B099-43D1-8050-DF94B81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28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9.044</a:t>
            </a:r>
          </a:p>
        </p:txBody>
      </p:sp>
      <p:sp>
        <p:nvSpPr>
          <p:cNvPr id="14" name="cal-lab3">
            <a:extLst xmlns:a="http://schemas.openxmlformats.org/drawingml/2006/main">
              <a:ext uri="{FF2B5EF4-FFF2-40B4-BE49-F238E27FC236}">
                <a16:creationId xmlns:a16="http://schemas.microsoft.com/office/drawing/2014/main" id="{BA7C7D7E-F5E6-48AF-BB83-A267B3F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weighted loss</a:t>
            </a:r>
          </a:p>
        </p:txBody>
      </p:sp>
      <p:sp>
        <p:nvSpPr>
          <p:cNvPr id="15" name="cal-det3">
            <a:extLst xmlns:a="http://schemas.openxmlformats.org/drawingml/2006/main">
              <a:ext uri="{FF2B5EF4-FFF2-40B4-BE49-F238E27FC236}">
                <a16:creationId xmlns:a16="http://schemas.microsoft.com/office/drawing/2014/main" id="{9BD3A619-53C8-49C1-AE15-F6D2A9AB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Mixed inverse-variance
and judgmental weights</a:t>
            </a:r>
          </a:p>
        </p:txBody>
      </p:sp>
      <p:sp>
        <p:nvSpPr>
          <p:cNvPr id="16" name="cal-bottom">
            <a:extLst xmlns:a="http://schemas.openxmlformats.org/drawingml/2006/main">
              <a:ext uri="{FF2B5EF4-FFF2-40B4-BE49-F238E27FC236}">
                <a16:creationId xmlns:a16="http://schemas.microsoft.com/office/drawing/2014/main" id="{9B3BD832-853F-4138-B707-7F5D8EF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Mechanical overidentification by one does not imply strong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1399243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7CBCECB9-7A1B-4BCD-B4FA-04DEC9C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Old-age ownership contributes 64% of the M5 loss</a:t>
            </a:r>
          </a:p>
        </p:txBody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F9FE3029-AFF6-4D57-B401-DDEF2C97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source-footer-6">
            <a:extLst xmlns:a="http://schemas.openxmlformats.org/drawingml/2006/main">
              <a:ext uri="{FF2B5EF4-FFF2-40B4-BE49-F238E27FC236}">
                <a16:creationId xmlns:a16="http://schemas.microsoft.com/office/drawing/2014/main" id="{511DA03C-0AB1-4017-A4B3-FD23D1E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M5 target_fit_full.csv</a:t>
            </a:r>
          </a:p>
        </p:txBody>
      </p:sp>
      <p:sp>
        <p:nvSpPr>
          <p:cNvPr id="4" name="loss-copy">
            <a:extLst xmlns:a="http://schemas.openxmlformats.org/drawingml/2006/main">
              <a:ext uri="{FF2B5EF4-FFF2-40B4-BE49-F238E27FC236}">
                <a16:creationId xmlns:a16="http://schemas.microsoft.com/office/drawing/2014/main" id="{628DD3DC-4B49-4D7D-B825-B755C48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4095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Loss contributions isolate the model's binding failure: late-life tenure, not the targeted estate median.</a:t>
            </a:r>
          </a:p>
        </p:txBody>
      </p:sp>
      <p:sp>
        <p:nvSpPr>
          <p:cNvPr id="5" name="loss-callout">
            <a:extLst xmlns:a="http://schemas.openxmlformats.org/drawingml/2006/main">
              <a:ext uri="{FF2B5EF4-FFF2-40B4-BE49-F238E27FC236}">
                <a16:creationId xmlns:a16="http://schemas.microsoft.com/office/drawing/2014/main" id="{6751593C-48ED-4CBC-BE64-11B1B4F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loss-stat">
            <a:extLst xmlns:a="http://schemas.openxmlformats.org/drawingml/2006/main">
              <a:ext uri="{FF2B5EF4-FFF2-40B4-BE49-F238E27FC236}">
                <a16:creationId xmlns:a16="http://schemas.microsoft.com/office/drawing/2014/main" id="{CD1486B7-37EF-4388-BB05-3307FC27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524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5.759 / 9.044</a:t>
            </a:r>
          </a:p>
        </p:txBody>
      </p:sp>
      <p:sp>
        <p:nvSpPr>
          <p:cNvPr id="7" name="loss-label">
            <a:extLst xmlns:a="http://schemas.openxmlformats.org/drawingml/2006/main">
              <a:ext uri="{FF2B5EF4-FFF2-40B4-BE49-F238E27FC236}">
                <a16:creationId xmlns:a16="http://schemas.microsoft.com/office/drawing/2014/main" id="{C669C419-8898-49CA-A1F7-B06B1FA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Old-age ownership alone</a:t>
            </a:r>
          </a:p>
        </p:txBody>
      </p:sp>
      <p:sp>
        <p:nvSpPr>
          <p:cNvPr id="8" name="loss-note">
            <a:extLst xmlns:a="http://schemas.openxmlformats.org/drawingml/2006/main">
              <a:ext uri="{FF2B5EF4-FFF2-40B4-BE49-F238E27FC236}">
                <a16:creationId xmlns:a16="http://schemas.microsoft.com/office/drawing/2014/main" id="{BC154073-594A-4FBC-9B7B-3453A412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4095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The next two rows together contribute only 15%.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47700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e93591a0134b6f"/>
          </a:graphicData>
        </a:graphic>
      </p:graphicFrame>
    </p:spTree>
    <p:extLst>
      <p:ext uri="{BB962C8B-B14F-4D97-AF65-F5344CB8AC3E}">
        <p14:creationId xmlns:p14="http://schemas.microsoft.com/office/powerpoint/2010/main" val="779835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5DEAA836-4882-40D2-976F-5BC66C6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829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fits response and wealth levels better than tenure sorting</a:t>
            </a:r>
          </a:p>
        </p:txBody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C8EC383D-74B5-4654-956E-B2312A67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source-footer-7">
            <a:extLst xmlns:a="http://schemas.openxmlformats.org/drawingml/2006/main">
              <a:ext uri="{FF2B5EF4-FFF2-40B4-BE49-F238E27FC236}">
                <a16:creationId xmlns:a16="http://schemas.microsoft.com/office/drawing/2014/main" id="{5CC0C3C4-C3A8-461F-AC68-C4A9B66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M5 fit; July 6 bootstrap SE audit</a:t>
            </a:r>
          </a:p>
        </p:txBody>
      </p:sp>
      <p:sp>
        <p:nvSpPr>
          <p:cNvPr id="4" name="fit-good-h">
            <a:extLst xmlns:a="http://schemas.openxmlformats.org/drawingml/2006/main">
              <a:ext uri="{FF2B5EF4-FFF2-40B4-BE49-F238E27FC236}">
                <a16:creationId xmlns:a16="http://schemas.microsoft.com/office/drawing/2014/main" id="{B4200473-64B7-4C44-85AF-B7BDBF00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91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Fits well enough to use</a:t>
            </a:r>
          </a:p>
        </p:txBody>
      </p:sp>
      <p:sp>
        <p:nvSpPr>
          <p:cNvPr id="5" name="fit-good">
            <a:extLst xmlns:a="http://schemas.openxmlformats.org/drawingml/2006/main">
              <a:ext uri="{FF2B5EF4-FFF2-40B4-BE49-F238E27FC236}">
                <a16:creationId xmlns:a16="http://schemas.microsoft.com/office/drawing/2014/main" id="{650EC834-9C78-4FDA-9771-0C4E5DF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childlessness*
First-child housing response
Estate median
Older nonhousing ≥ 1× income
Aggregate rooms</a:t>
            </a:r>
          </a:p>
        </p:txBody>
      </p:sp>
      <p:sp>
        <p:nvSpPr>
          <p:cNvPr id="6" name="fit-bad-h">
            <a:extLst xmlns:a="http://schemas.openxmlformats.org/drawingml/2006/main">
              <a:ext uri="{FF2B5EF4-FFF2-40B4-BE49-F238E27FC236}">
                <a16:creationId xmlns:a16="http://schemas.microsoft.com/office/drawing/2014/main" id="{C68369C6-FFDE-4D41-AB9F-8C866F30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5191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Binding failures</a:t>
            </a:r>
          </a:p>
        </p:txBody>
      </p:sp>
      <p:sp>
        <p:nvSpPr>
          <p:cNvPr id="7" name="fit-bad">
            <a:extLst xmlns:a="http://schemas.openxmlformats.org/drawingml/2006/main">
              <a:ext uri="{FF2B5EF4-FFF2-40B4-BE49-F238E27FC236}">
                <a16:creationId xmlns:a16="http://schemas.microsoft.com/office/drawing/2014/main" id="{001B5275-1A1A-44C1-8155-80FEDF0D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Old-age ownership: +15.1 SE
Large-home share: +9.4 SE
Family ownership gap: +8.0 SE
Prime ownership: +4.1 SE
Young ownership: −3.7 SE</a:t>
            </a:r>
          </a:p>
        </p:txBody>
      </p:sp>
      <p:sp>
        <p:nvSpPr>
          <p:cNvPr id="8" name="fit-foot-panel">
            <a:extLst xmlns:a="http://schemas.openxmlformats.org/drawingml/2006/main">
              <a:ext uri="{FF2B5EF4-FFF2-40B4-BE49-F238E27FC236}">
                <a16:creationId xmlns:a16="http://schemas.microsoft.com/office/drawing/2014/main" id="{4525B589-F585-434D-8CEA-5C4442B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fit-foot">
            <a:extLst xmlns:a="http://schemas.openxmlformats.org/drawingml/2006/main">
              <a:ext uri="{FF2B5EF4-FFF2-40B4-BE49-F238E27FC236}">
                <a16:creationId xmlns:a16="http://schemas.microsoft.com/office/drawing/2014/main" id="{C109C5C6-93AA-4AB3-A636-D0A4741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38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* The numerical fit is exact, but the completed fertility and childlessness source artifact is not pinned.</a:t>
            </a:r>
          </a:p>
        </p:txBody>
      </p:sp>
    </p:spTree>
    <p:extLst>
      <p:ext uri="{BB962C8B-B14F-4D97-AF65-F5344CB8AC3E}">
        <p14:creationId xmlns:p14="http://schemas.microsoft.com/office/powerpoint/2010/main" val="1564144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E444C7E5-3124-43F7-80FD-815BD8E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old-age problem is a level miss, not an ownership cliff</a:t>
            </a:r>
          </a:p>
        </p:txBody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155522A5-69D4-45CA-ABC3-15C76C0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source-footer-8">
            <a:extLst xmlns:a="http://schemas.openxmlformats.org/drawingml/2006/main">
              <a:ext uri="{FF2B5EF4-FFF2-40B4-BE49-F238E27FC236}">
                <a16:creationId xmlns:a16="http://schemas.microsoft.com/office/drawing/2014/main" id="{764A0D2B-1774-4324-B044-E576CB74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M5 lifecycle diagnostics; ACS ownership acceptance profile</a:t>
            </a:r>
          </a:p>
        </p:txBody>
      </p:sp>
      <p:sp>
        <p:nvSpPr>
          <p:cNvPr id="4" name="old-copy">
            <a:extLst xmlns:a="http://schemas.openxmlformats.org/drawingml/2006/main">
              <a:ext uri="{FF2B5EF4-FFF2-40B4-BE49-F238E27FC236}">
                <a16:creationId xmlns:a16="http://schemas.microsoft.com/office/drawing/2014/main" id="{0633667F-81A5-4082-B9E9-84638E5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42386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keeps ownership near 95% through age 78. The empirical profile stays around 75%.</a:t>
            </a:r>
          </a:p>
        </p:txBody>
      </p:sp>
      <p:sp>
        <p:nvSpPr>
          <p:cNvPr id="5" name="old-callout1">
            <a:extLst xmlns:a="http://schemas.openxmlformats.org/drawingml/2006/main">
              <a:ext uri="{FF2B5EF4-FFF2-40B4-BE49-F238E27FC236}">
                <a16:creationId xmlns:a16="http://schemas.microsoft.com/office/drawing/2014/main" id="{46CE67BB-CFCD-4D1F-909E-1E7E4C07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old-callout2">
            <a:extLst xmlns:a="http://schemas.openxmlformats.org/drawingml/2006/main">
              <a:ext uri="{FF2B5EF4-FFF2-40B4-BE49-F238E27FC236}">
                <a16:creationId xmlns:a16="http://schemas.microsoft.com/office/drawing/2014/main" id="{B0C952FD-E210-4ACB-A747-A5F4765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old-stat1">
            <a:extLst xmlns:a="http://schemas.openxmlformats.org/drawingml/2006/main">
              <a:ext uri="{FF2B5EF4-FFF2-40B4-BE49-F238E27FC236}">
                <a16:creationId xmlns:a16="http://schemas.microsoft.com/office/drawing/2014/main" id="{EF631C86-364A-4A7C-9527-0D81866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95.4%</a:t>
            </a:r>
          </a:p>
        </p:txBody>
      </p:sp>
      <p:sp>
        <p:nvSpPr>
          <p:cNvPr id="8" name="old-lab1">
            <a:extLst xmlns:a="http://schemas.openxmlformats.org/drawingml/2006/main">
              <a:ext uri="{FF2B5EF4-FFF2-40B4-BE49-F238E27FC236}">
                <a16:creationId xmlns:a16="http://schemas.microsoft.com/office/drawing/2014/main" id="{297FE348-BD9D-470D-AAED-07CD06F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52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M5, ages 65–75</a:t>
            </a:r>
          </a:p>
        </p:txBody>
      </p:sp>
      <p:sp>
        <p:nvSpPr>
          <p:cNvPr id="9" name="old-stat2">
            <a:extLst xmlns:a="http://schemas.openxmlformats.org/drawingml/2006/main">
              <a:ext uri="{FF2B5EF4-FFF2-40B4-BE49-F238E27FC236}">
                <a16:creationId xmlns:a16="http://schemas.microsoft.com/office/drawing/2014/main" id="{7E99C405-CCBD-4D54-8AF6-781AF145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5716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76.4%</a:t>
            </a:r>
          </a:p>
        </p:txBody>
      </p:sp>
      <p:sp>
        <p:nvSpPr>
          <p:cNvPr id="10" name="old-lab2">
            <a:extLst xmlns:a="http://schemas.openxmlformats.org/drawingml/2006/main">
              <a:ext uri="{FF2B5EF4-FFF2-40B4-BE49-F238E27FC236}">
                <a16:creationId xmlns:a16="http://schemas.microsoft.com/office/drawing/2014/main" id="{2CD9E670-D66C-434B-8CF9-399C7BCB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1571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ACS target</a:t>
            </a:r>
          </a:p>
        </p:txBody>
      </p:sp>
      <p:sp>
        <p:nvSpPr>
          <p:cNvPr id="11" name="old-note">
            <a:extLst xmlns:a="http://schemas.openxmlformats.org/drawingml/2006/main">
              <a:ext uri="{FF2B5EF4-FFF2-40B4-BE49-F238E27FC236}">
                <a16:creationId xmlns:a16="http://schemas.microsoft.com/office/drawing/2014/main" id="{7B32E872-002C-48BD-82A5-0952781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53000"/>
            <a:ext cx="42386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Mean liquid wealth turns negative by the age-74 state while ownership remains above 90%.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238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886a6a53ae41ca"/>
          </a:graphicData>
        </a:graphic>
      </p:graphicFrame>
    </p:spTree>
    <p:extLst>
      <p:ext uri="{BB962C8B-B14F-4D97-AF65-F5344CB8AC3E}">
        <p14:creationId xmlns:p14="http://schemas.microsoft.com/office/powerpoint/2010/main" val="494008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EAACDD7C-0872-4FF5-8981-8134A6DA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main audit risk is identification and provenance</a:t>
            </a:r>
          </a:p>
        </p:txBody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6668F3D1-6E61-4488-B429-F6609EC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3" name="source-footer-9">
            <a:extLst xmlns:a="http://schemas.openxmlformats.org/drawingml/2006/main">
              <a:ext uri="{FF2B5EF4-FFF2-40B4-BE49-F238E27FC236}">
                <a16:creationId xmlns:a16="http://schemas.microsoft.com/office/drawing/2014/main" id="{BE561E9D-F6F6-46C4-9984-CCF734C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M5 identification/summary.json; moment_standard_errors/output</a:t>
            </a:r>
          </a:p>
        </p:txBody>
      </p:sp>
      <p:sp>
        <p:nvSpPr>
          <p:cNvPr id="4" name="id-copy">
            <a:extLst xmlns:a="http://schemas.openxmlformats.org/drawingml/2006/main">
              <a:ext uri="{FF2B5EF4-FFF2-40B4-BE49-F238E27FC236}">
                <a16:creationId xmlns:a16="http://schemas.microsoft.com/office/drawing/2014/main" id="{F0971A1F-7773-4C13-B8FB-682C3CA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The numerical winner is deterministic. The empirical and local-identification claims are weaker.</a:t>
            </a:r>
          </a:p>
        </p:txBody>
      </p:sp>
      <p:sp>
        <p:nvSpPr>
          <p:cNvPr id="5" name="metric-card-42">
            <a:extLst xmlns:a="http://schemas.openxmlformats.org/drawingml/2006/main">
              <a:ext uri="{FF2B5EF4-FFF2-40B4-BE49-F238E27FC236}">
                <a16:creationId xmlns:a16="http://schemas.microsoft.com/office/drawing/2014/main" id="{BC433E87-D844-42CD-822C-8FEC0E8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metric-stat-42">
            <a:extLst xmlns:a="http://schemas.openxmlformats.org/drawingml/2006/main">
              <a:ext uri="{FF2B5EF4-FFF2-40B4-BE49-F238E27FC236}">
                <a16:creationId xmlns:a16="http://schemas.microsoft.com/office/drawing/2014/main" id="{1D8C2D7A-4A24-40A6-B510-96332BDA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9 / 14</a:t>
            </a:r>
          </a:p>
        </p:txBody>
      </p:sp>
      <p:sp>
        <p:nvSpPr>
          <p:cNvPr id="7" name="metric-label-42">
            <a:extLst xmlns:a="http://schemas.openxmlformats.org/drawingml/2006/main">
              <a:ext uri="{FF2B5EF4-FFF2-40B4-BE49-F238E27FC236}">
                <a16:creationId xmlns:a16="http://schemas.microsoft.com/office/drawing/2014/main" id="{D79A77CD-9DFB-4B43-B06A-FAE0A853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at 1% threshold</a:t>
            </a:r>
          </a:p>
        </p:txBody>
      </p:sp>
      <p:sp>
        <p:nvSpPr>
          <p:cNvPr id="8" name="metric-detail-42">
            <a:extLst xmlns:a="http://schemas.openxmlformats.org/drawingml/2006/main">
              <a:ext uri="{FF2B5EF4-FFF2-40B4-BE49-F238E27FC236}">
                <a16:creationId xmlns:a16="http://schemas.microsoft.com/office/drawing/2014/main" id="{3DE4754C-5254-4FD8-9742-25469FC3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Only nine directions are strong at the conventional coarse threshold.</a:t>
            </a:r>
          </a:p>
        </p:txBody>
      </p:sp>
      <p:sp>
        <p:nvSpPr>
          <p:cNvPr id="9" name="metric-card-455">
            <a:extLst xmlns:a="http://schemas.openxmlformats.org/drawingml/2006/main">
              <a:ext uri="{FF2B5EF4-FFF2-40B4-BE49-F238E27FC236}">
                <a16:creationId xmlns:a16="http://schemas.microsoft.com/office/drawing/2014/main" id="{2040D1B3-8D54-4817-9327-4F5C962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metric-stat-455">
            <a:extLst xmlns:a="http://schemas.openxmlformats.org/drawingml/2006/main">
              <a:ext uri="{FF2B5EF4-FFF2-40B4-BE49-F238E27FC236}">
                <a16:creationId xmlns:a16="http://schemas.microsoft.com/office/drawing/2014/main" id="{300A58C8-ECE4-4965-B2A4-F1B64DB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2,926</a:t>
            </a:r>
          </a:p>
        </p:txBody>
      </p:sp>
      <p:sp>
        <p:nvSpPr>
          <p:cNvPr id="11" name="metric-label-455">
            <a:extLst xmlns:a="http://schemas.openxmlformats.org/drawingml/2006/main">
              <a:ext uri="{FF2B5EF4-FFF2-40B4-BE49-F238E27FC236}">
                <a16:creationId xmlns:a16="http://schemas.microsoft.com/office/drawing/2014/main" id="{BF6892E9-31F0-4DA9-9107-C074DBB8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condition number</a:t>
            </a:r>
          </a:p>
        </p:txBody>
      </p:sp>
      <p:sp>
        <p:nvSpPr>
          <p:cNvPr id="12" name="metric-detail-455">
            <a:extLst xmlns:a="http://schemas.openxmlformats.org/drawingml/2006/main">
              <a:ext uri="{FF2B5EF4-FFF2-40B4-BE49-F238E27FC236}">
                <a16:creationId xmlns:a16="http://schemas.microsoft.com/office/drawing/2014/main" id="{5619F196-0EAF-4349-A5E3-98E0766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The weighted Jacobian is ill-conditioned.</a:t>
            </a:r>
          </a:p>
        </p:txBody>
      </p:sp>
      <p:sp>
        <p:nvSpPr>
          <p:cNvPr id="13" name="metric-card-868">
            <a:extLst xmlns:a="http://schemas.openxmlformats.org/drawingml/2006/main">
              <a:ext uri="{FF2B5EF4-FFF2-40B4-BE49-F238E27FC236}">
                <a16:creationId xmlns:a16="http://schemas.microsoft.com/office/drawing/2014/main" id="{B0BE3852-4B1B-44A6-A412-0BFD6D02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metric-stat-868">
            <a:extLst xmlns:a="http://schemas.openxmlformats.org/drawingml/2006/main">
              <a:ext uri="{FF2B5EF4-FFF2-40B4-BE49-F238E27FC236}">
                <a16:creationId xmlns:a16="http://schemas.microsoft.com/office/drawing/2014/main" id="{E362E07C-EFA8-4609-9951-A9C0982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901E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metric-label-868">
            <a:extLst xmlns:a="http://schemas.openxmlformats.org/drawingml/2006/main">
              <a:ext uri="{FF2B5EF4-FFF2-40B4-BE49-F238E27FC236}">
                <a16:creationId xmlns:a16="http://schemas.microsoft.com/office/drawing/2014/main" id="{B7D0BEE8-7BC2-4482-A2F1-C1B94BF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2437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source-unconfirmed targets</a:t>
            </a:r>
          </a:p>
        </p:txBody>
      </p:sp>
      <p:sp>
        <p:nvSpPr>
          <p:cNvPr id="16" name="metric-detail-868">
            <a:extLst xmlns:a="http://schemas.openxmlformats.org/drawingml/2006/main">
              <a:ext uri="{FF2B5EF4-FFF2-40B4-BE49-F238E27FC236}">
                <a16:creationId xmlns:a16="http://schemas.microsoft.com/office/drawing/2014/main" id="{68319828-2904-4149-A3C2-89E90BDD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990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fertility and childlessness need a pinned CPS builder.</a:t>
            </a:r>
          </a:p>
        </p:txBody>
      </p:sp>
      <p:sp>
        <p:nvSpPr>
          <p:cNvPr id="17" name="id-bottom">
            <a:extLst xmlns:a="http://schemas.openxmlformats.org/drawingml/2006/main">
              <a:ext uri="{FF2B5EF4-FFF2-40B4-BE49-F238E27FC236}">
                <a16:creationId xmlns:a16="http://schemas.microsoft.com/office/drawing/2014/main" id="{F8A826BE-A8CB-4EE5-B988-F27D3947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47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If those two targets were removed without replacement: 13 verified moments for 14 free parameters.</a:t>
            </a:r>
          </a:p>
        </p:txBody>
      </p:sp>
    </p:spTree>
    <p:extLst>
      <p:ext uri="{BB962C8B-B14F-4D97-AF65-F5344CB8AC3E}">
        <p14:creationId xmlns:p14="http://schemas.microsoft.com/office/powerpoint/2010/main" val="19944746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EA6B1CD1-3DDC-436F-98FD-4817DDA3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circulated PDF differs from the current source</a:t>
            </a:r>
          </a:p>
        </p:txBody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0C740C50-B87B-4F85-AC4F-83E2F30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3" name="source-footer-10">
            <a:extLst xmlns:a="http://schemas.openxmlformats.org/drawingml/2006/main">
              <a:ext uri="{FF2B5EF4-FFF2-40B4-BE49-F238E27FC236}">
                <a16:creationId xmlns:a16="http://schemas.microsoft.com/office/drawing/2014/main" id="{C8FF8ADA-E77F-4A37-BF98-68033E2A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PDF metadata; Git commit 1fd252d; current .tex</a:t>
            </a:r>
          </a:p>
        </p:txBody>
      </p:sp>
      <p:sp>
        <p:nvSpPr>
          <p:cNvPr id="4" name="delta-line">
            <a:extLst xmlns:a="http://schemas.openxmlformats.org/drawingml/2006/main">
              <a:ext uri="{FF2B5EF4-FFF2-40B4-BE49-F238E27FC236}">
                <a16:creationId xmlns:a16="http://schemas.microsoft.com/office/drawing/2014/main" id="{9933D917-6C96-4068-A99C-6D892572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delta-dot1">
            <a:extLst xmlns:a="http://schemas.openxmlformats.org/drawingml/2006/main">
              <a:ext uri="{FF2B5EF4-FFF2-40B4-BE49-F238E27FC236}">
                <a16:creationId xmlns:a16="http://schemas.microsoft.com/office/drawing/2014/main" id="{ED1E0A97-C180-4474-A45E-C52F9B9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28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delta-dot2">
            <a:extLst xmlns:a="http://schemas.openxmlformats.org/drawingml/2006/main">
              <a:ext uri="{FF2B5EF4-FFF2-40B4-BE49-F238E27FC236}">
                <a16:creationId xmlns:a16="http://schemas.microsoft.com/office/drawing/2014/main" id="{B12D003A-D881-4886-80F3-99408A8E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28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delta-dot3">
            <a:extLst xmlns:a="http://schemas.openxmlformats.org/drawingml/2006/main">
              <a:ext uri="{FF2B5EF4-FFF2-40B4-BE49-F238E27FC236}">
                <a16:creationId xmlns:a16="http://schemas.microsoft.com/office/drawing/2014/main" id="{C38E0883-E0DB-4259-94EA-14EEFC9B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28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delta-date1">
            <a:extLst xmlns:a="http://schemas.openxmlformats.org/drawingml/2006/main">
              <a:ext uri="{FF2B5EF4-FFF2-40B4-BE49-F238E27FC236}">
                <a16:creationId xmlns:a16="http://schemas.microsoft.com/office/drawing/2014/main" id="{1BD91AF7-5D76-4B59-97CB-71F64074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July 17 · 17:32</a:t>
            </a:r>
          </a:p>
        </p:txBody>
      </p:sp>
      <p:sp>
        <p:nvSpPr>
          <p:cNvPr id="9" name="delta-date2">
            <a:extLst xmlns:a="http://schemas.openxmlformats.org/drawingml/2006/main">
              <a:ext uri="{FF2B5EF4-FFF2-40B4-BE49-F238E27FC236}">
                <a16:creationId xmlns:a16="http://schemas.microsoft.com/office/drawing/2014/main" id="{250DDEDF-F62A-4619-848E-3B475C0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7146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July 17 · later</a:t>
            </a:r>
          </a:p>
        </p:txBody>
      </p:sp>
      <p:sp>
        <p:nvSpPr>
          <p:cNvPr id="10" name="delta-date3">
            <a:extLst xmlns:a="http://schemas.openxmlformats.org/drawingml/2006/main">
              <a:ext uri="{FF2B5EF4-FFF2-40B4-BE49-F238E27FC236}">
                <a16:creationId xmlns:a16="http://schemas.microsoft.com/office/drawing/2014/main" id="{1D7FBFE7-9F44-43BD-920B-76AE16D9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July 20 audit</a:t>
            </a:r>
          </a:p>
        </p:txBody>
      </p:sp>
      <p:sp>
        <p:nvSpPr>
          <p:cNvPr id="11" name="delta-h1">
            <a:extLst xmlns:a="http://schemas.openxmlformats.org/drawingml/2006/main">
              <a:ext uri="{FF2B5EF4-FFF2-40B4-BE49-F238E27FC236}">
                <a16:creationId xmlns:a16="http://schemas.microsoft.com/office/drawing/2014/main" id="{A1CB6377-B5F2-4CCC-9CE5-6F326C1B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Circulated PDF</a:t>
            </a:r>
          </a:p>
        </p:txBody>
      </p:sp>
      <p:sp>
        <p:nvSpPr>
          <p:cNvPr id="12" name="delta-b1">
            <a:extLst xmlns:a="http://schemas.openxmlformats.org/drawingml/2006/main">
              <a:ext uri="{FF2B5EF4-FFF2-40B4-BE49-F238E27FC236}">
                <a16:creationId xmlns:a16="http://schemas.microsoft.com/office/drawing/2014/main" id="{58283032-430B-4D06-9C6B-0CDAFD53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Reports 2+ minus 1 estate gap = 0.101</a:t>
            </a:r>
          </a:p>
        </p:txBody>
      </p:sp>
      <p:sp>
        <p:nvSpPr>
          <p:cNvPr id="13" name="delta-h2">
            <a:extLst xmlns:a="http://schemas.openxmlformats.org/drawingml/2006/main">
              <a:ext uri="{FF2B5EF4-FFF2-40B4-BE49-F238E27FC236}">
                <a16:creationId xmlns:a16="http://schemas.microsoft.com/office/drawing/2014/main" id="{5DC3E651-403C-4F23-9471-3A1B13D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14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edited</a:t>
            </a:r>
          </a:p>
        </p:txBody>
      </p:sp>
      <p:sp>
        <p:nvSpPr>
          <p:cNvPr id="14" name="delta-b2">
            <a:extLst xmlns:a="http://schemas.openxmlformats.org/drawingml/2006/main">
              <a:ext uri="{FF2B5EF4-FFF2-40B4-BE49-F238E27FC236}">
                <a16:creationId xmlns:a16="http://schemas.microsoft.com/office/drawing/2014/main" id="{4C253AF2-592F-4D56-A6AD-D74A08D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86250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Adds: gap is statistically insignificant; later adds asset-coverage caveat</a:t>
            </a:r>
          </a:p>
        </p:txBody>
      </p:sp>
      <p:sp>
        <p:nvSpPr>
          <p:cNvPr id="15" name="delta-h3">
            <a:extLst xmlns:a="http://schemas.openxmlformats.org/drawingml/2006/main">
              <a:ext uri="{FF2B5EF4-FFF2-40B4-BE49-F238E27FC236}">
                <a16:creationId xmlns:a16="http://schemas.microsoft.com/office/drawing/2014/main" id="{94057587-3F62-467F-A41C-1CB27792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Re-audit</a:t>
            </a:r>
          </a:p>
        </p:txBody>
      </p:sp>
      <p:sp>
        <p:nvSpPr>
          <p:cNvPr id="16" name="delta-b3">
            <a:extLst xmlns:a="http://schemas.openxmlformats.org/drawingml/2006/main">
              <a:ext uri="{FF2B5EF4-FFF2-40B4-BE49-F238E27FC236}">
                <a16:creationId xmlns:a16="http://schemas.microsoft.com/office/drawing/2014/main" id="{AF7393C1-40B1-4446-8CF3-EA319D8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Treats the PDF as the record of what Corina saw</a:t>
            </a:r>
          </a:p>
        </p:txBody>
      </p:sp>
    </p:spTree>
    <p:extLst>
      <p:ext uri="{BB962C8B-B14F-4D97-AF65-F5344CB8AC3E}">
        <p14:creationId xmlns:p14="http://schemas.microsoft.com/office/powerpoint/2010/main" val="126999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A17A2583-0AF6-4FD0-BCA7-C93E066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New experiments clarify the trade-offs; M5 remains the benchmark</a:t>
            </a:r>
          </a:p>
        </p:txBody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45EDB665-2476-40ED-AAAE-1C25149A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3" name="source-footer-11">
            <a:extLst xmlns:a="http://schemas.openxmlformats.org/drawingml/2006/main">
              <a:ext uri="{FF2B5EF4-FFF2-40B4-BE49-F238E27FC236}">
                <a16:creationId xmlns:a16="http://schemas.microsoft.com/office/drawing/2014/main" id="{2954941E-A9DF-46C1-BDC3-D581404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July 18 frontier and floor probe; July 19 E1 collector</a:t>
            </a:r>
          </a:p>
        </p:txBody>
      </p:sp>
      <p:sp>
        <p:nvSpPr>
          <p:cNvPr id="4" name="post-panel1">
            <a:extLst xmlns:a="http://schemas.openxmlformats.org/drawingml/2006/main">
              <a:ext uri="{FF2B5EF4-FFF2-40B4-BE49-F238E27FC236}">
                <a16:creationId xmlns:a16="http://schemas.microsoft.com/office/drawing/2014/main" id="{8AB62F66-E841-421D-9D37-270BE76E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post-panel2">
            <a:extLst xmlns:a="http://schemas.openxmlformats.org/drawingml/2006/main">
              <a:ext uri="{FF2B5EF4-FFF2-40B4-BE49-F238E27FC236}">
                <a16:creationId xmlns:a16="http://schemas.microsoft.com/office/drawing/2014/main" id="{51F32BF0-5415-451C-B107-1E88739D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ost-panel3">
            <a:extLst xmlns:a="http://schemas.openxmlformats.org/drawingml/2006/main">
              <a:ext uri="{FF2B5EF4-FFF2-40B4-BE49-F238E27FC236}">
                <a16:creationId xmlns:a16="http://schemas.microsoft.com/office/drawing/2014/main" id="{E1104C5E-F6A8-4421-AB90-E0AEEB43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post-h1">
            <a:extLst xmlns:a="http://schemas.openxmlformats.org/drawingml/2006/main">
              <a:ext uri="{FF2B5EF4-FFF2-40B4-BE49-F238E27FC236}">
                <a16:creationId xmlns:a16="http://schemas.microsoft.com/office/drawing/2014/main" id="{F69EB015-7864-4347-AF37-89A26AF1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Income frontier</a:t>
            </a:r>
          </a:p>
        </p:txBody>
      </p:sp>
      <p:sp>
        <p:nvSpPr>
          <p:cNvPr id="8" name="post-b1">
            <a:extLst xmlns:a="http://schemas.openxmlformats.org/drawingml/2006/main">
              <a:ext uri="{FF2B5EF4-FFF2-40B4-BE49-F238E27FC236}">
                <a16:creationId xmlns:a16="http://schemas.microsoft.com/office/drawing/2014/main" id="{92631D85-ACB4-4528-A093-55D92AFB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857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bundle fails already at σ = 0.09.
A measured floor buys no room unless the hard bundle falls.</a:t>
            </a:r>
          </a:p>
        </p:txBody>
      </p:sp>
      <p:sp>
        <p:nvSpPr>
          <p:cNvPr id="9" name="post-h2">
            <a:extLst xmlns:a="http://schemas.openxmlformats.org/drawingml/2006/main">
              <a:ext uri="{FF2B5EF4-FFF2-40B4-BE49-F238E27FC236}">
                <a16:creationId xmlns:a16="http://schemas.microsoft.com/office/drawing/2014/main" id="{F00B6F85-F2DD-4F29-8A9C-0F9452D8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Transfer-floor probe</a:t>
            </a:r>
          </a:p>
        </p:txBody>
      </p:sp>
      <p:sp>
        <p:nvSpPr>
          <p:cNvPr id="10" name="post-b2">
            <a:extLst xmlns:a="http://schemas.openxmlformats.org/drawingml/2006/main">
              <a:ext uri="{FF2B5EF4-FFF2-40B4-BE49-F238E27FC236}">
                <a16:creationId xmlns:a16="http://schemas.microsoft.com/office/drawing/2014/main" id="{8C711F12-F32F-49BE-8DD5-64ED19C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8575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 fixed parameters, honest risk raises estate p90/p50 to 3.07.
Young wealth rises to 1.33 — a new tension, not a solution.</a:t>
            </a:r>
          </a:p>
        </p:txBody>
      </p:sp>
      <p:sp>
        <p:nvSpPr>
          <p:cNvPr id="11" name="post-h3">
            <a:extLst xmlns:a="http://schemas.openxmlformats.org/drawingml/2006/main">
              <a:ext uri="{FF2B5EF4-FFF2-40B4-BE49-F238E27FC236}">
                <a16:creationId xmlns:a16="http://schemas.microsoft.com/office/drawing/2014/main" id="{8F990232-E83C-4998-AC36-3ECDC7D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E1 experiment</a:t>
            </a:r>
          </a:p>
        </p:txBody>
      </p:sp>
      <p:sp>
        <p:nvSpPr>
          <p:cNvPr id="12" name="post-b3">
            <a:extLst xmlns:a="http://schemas.openxmlformats.org/drawingml/2006/main">
              <a:ext uri="{FF2B5EF4-FFF2-40B4-BE49-F238E27FC236}">
                <a16:creationId xmlns:a16="http://schemas.microsoft.com/office/drawing/2014/main" id="{9C6CC9AD-4680-4EEE-8586-9AF7C65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0375"/>
            <a:ext cx="28575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Sequential fertility + no hard floors fixes old ownership and the tail.
Loss 12.61; fertility and first-child housing fit worsen.</a:t>
            </a:r>
          </a:p>
        </p:txBody>
      </p:sp>
    </p:spTree>
    <p:extLst>
      <p:ext uri="{BB962C8B-B14F-4D97-AF65-F5344CB8AC3E}">
        <p14:creationId xmlns:p14="http://schemas.microsoft.com/office/powerpoint/2010/main" val="293438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E1A96EEA-00B4-48B4-8581-DFB0FED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E1 repairs the late-life block by giving up fertility fit</a:t>
            </a:r>
          </a:p>
        </p:txBody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187E0CCB-D56D-4BDD-95A8-86C90DAB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3" name="source-footer-12">
            <a:extLst xmlns:a="http://schemas.openxmlformats.org/drawingml/2006/main">
              <a:ext uri="{FF2B5EF4-FFF2-40B4-BE49-F238E27FC236}">
                <a16:creationId xmlns:a16="http://schemas.microsoft.com/office/drawing/2014/main" id="{3CD4ACF6-A876-40BE-8E0F-A8BAF221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Both specifications use the same 15 moments and weights; not a formal model-selection test</a:t>
            </a:r>
          </a:p>
        </p:txBody>
      </p:sp>
      <p:sp>
        <p:nvSpPr>
          <p:cNvPr id="4" name="cmp-m5">
            <a:extLst xmlns:a="http://schemas.openxmlformats.org/drawingml/2006/main">
              <a:ext uri="{FF2B5EF4-FFF2-40B4-BE49-F238E27FC236}">
                <a16:creationId xmlns:a16="http://schemas.microsoft.com/office/drawing/2014/main" id="{031BCBA2-C995-4C10-8CAC-E1B35390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M5</a:t>
            </a:r>
          </a:p>
        </p:txBody>
      </p:sp>
      <p:sp>
        <p:nvSpPr>
          <p:cNvPr id="5" name="cmp-e1">
            <a:extLst xmlns:a="http://schemas.openxmlformats.org/drawingml/2006/main">
              <a:ext uri="{FF2B5EF4-FFF2-40B4-BE49-F238E27FC236}">
                <a16:creationId xmlns:a16="http://schemas.microsoft.com/office/drawing/2014/main" id="{EB479308-B3FD-4D44-B208-765FF37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E1</a:t>
            </a:r>
          </a:p>
        </p:txBody>
      </p:sp>
      <p:sp>
        <p:nvSpPr>
          <p:cNvPr id="6" name="cmp-row-0">
            <a:extLst xmlns:a="http://schemas.openxmlformats.org/drawingml/2006/main">
              <a:ext uri="{FF2B5EF4-FFF2-40B4-BE49-F238E27FC236}">
                <a16:creationId xmlns:a16="http://schemas.microsoft.com/office/drawing/2014/main" id="{F01BB5F2-773B-4224-9CF4-F115CA3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cmp-label-0">
            <a:extLst xmlns:a="http://schemas.openxmlformats.org/drawingml/2006/main">
              <a:ext uri="{FF2B5EF4-FFF2-40B4-BE49-F238E27FC236}">
                <a16:creationId xmlns:a16="http://schemas.microsoft.com/office/drawing/2014/main" id="{EBC18C94-3A9F-4A72-BC21-2EB4656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Weighted loss</a:t>
            </a:r>
          </a:p>
        </p:txBody>
      </p:sp>
      <p:sp>
        <p:nvSpPr>
          <p:cNvPr id="8" name="cmp-v1-0">
            <a:extLst xmlns:a="http://schemas.openxmlformats.org/drawingml/2006/main">
              <a:ext uri="{FF2B5EF4-FFF2-40B4-BE49-F238E27FC236}">
                <a16:creationId xmlns:a16="http://schemas.microsoft.com/office/drawing/2014/main" id="{975E088C-BA0A-4078-B7B1-FAABA7BA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9.04</a:t>
            </a:r>
          </a:p>
        </p:txBody>
      </p:sp>
      <p:sp>
        <p:nvSpPr>
          <p:cNvPr id="9" name="cmp-v2-0">
            <a:extLst xmlns:a="http://schemas.openxmlformats.org/drawingml/2006/main">
              <a:ext uri="{FF2B5EF4-FFF2-40B4-BE49-F238E27FC236}">
                <a16:creationId xmlns:a16="http://schemas.microsoft.com/office/drawing/2014/main" id="{5532E853-23B2-456B-80C2-573B521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12.61</a:t>
            </a:r>
          </a:p>
        </p:txBody>
      </p:sp>
      <p:sp>
        <p:nvSpPr>
          <p:cNvPr id="10" name="cmp-row-1">
            <a:extLst xmlns:a="http://schemas.openxmlformats.org/drawingml/2006/main">
              <a:ext uri="{FF2B5EF4-FFF2-40B4-BE49-F238E27FC236}">
                <a16:creationId xmlns:a16="http://schemas.microsoft.com/office/drawing/2014/main" id="{623D5AFA-CE9E-47DC-9526-7B3ADB5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cmp-label-1">
            <a:extLst xmlns:a="http://schemas.openxmlformats.org/drawingml/2006/main">
              <a:ext uri="{FF2B5EF4-FFF2-40B4-BE49-F238E27FC236}">
                <a16:creationId xmlns:a16="http://schemas.microsoft.com/office/drawing/2014/main" id="{37EA49EB-F725-4FD4-B81A-5407D7B2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 ownership</a:t>
            </a:r>
          </a:p>
        </p:txBody>
      </p:sp>
      <p:sp>
        <p:nvSpPr>
          <p:cNvPr id="12" name="cmp-v1-1">
            <a:extLst xmlns:a="http://schemas.openxmlformats.org/drawingml/2006/main">
              <a:ext uri="{FF2B5EF4-FFF2-40B4-BE49-F238E27FC236}">
                <a16:creationId xmlns:a16="http://schemas.microsoft.com/office/drawing/2014/main" id="{F8500D0E-A1DF-4589-A71B-E97279ED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0.954</a:t>
            </a:r>
          </a:p>
        </p:txBody>
      </p:sp>
      <p:sp>
        <p:nvSpPr>
          <p:cNvPr id="13" name="cmp-v2-1">
            <a:extLst xmlns:a="http://schemas.openxmlformats.org/drawingml/2006/main">
              <a:ext uri="{FF2B5EF4-FFF2-40B4-BE49-F238E27FC236}">
                <a16:creationId xmlns:a16="http://schemas.microsoft.com/office/drawing/2014/main" id="{D7AC9B42-6B92-4B4E-920F-ED1E3DD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33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0.710</a:t>
            </a:r>
          </a:p>
        </p:txBody>
      </p:sp>
      <p:sp>
        <p:nvSpPr>
          <p:cNvPr id="14" name="cmp-row-2">
            <a:extLst xmlns:a="http://schemas.openxmlformats.org/drawingml/2006/main">
              <a:ext uri="{FF2B5EF4-FFF2-40B4-BE49-F238E27FC236}">
                <a16:creationId xmlns:a16="http://schemas.microsoft.com/office/drawing/2014/main" id="{33E81F3E-9932-460E-8539-3D99ABEF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cmp-label-2">
            <a:extLst xmlns:a="http://schemas.openxmlformats.org/drawingml/2006/main">
              <a:ext uri="{FF2B5EF4-FFF2-40B4-BE49-F238E27FC236}">
                <a16:creationId xmlns:a16="http://schemas.microsoft.com/office/drawing/2014/main" id="{552649EF-F669-442B-A78A-96D4F35E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766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Estate p90/p50</a:t>
            </a:r>
          </a:p>
        </p:txBody>
      </p:sp>
      <p:sp>
        <p:nvSpPr>
          <p:cNvPr id="16" name="cmp-v1-2">
            <a:extLst xmlns:a="http://schemas.openxmlformats.org/drawingml/2006/main">
              <a:ext uri="{FF2B5EF4-FFF2-40B4-BE49-F238E27FC236}">
                <a16:creationId xmlns:a16="http://schemas.microsoft.com/office/drawing/2014/main" id="{9E047057-74D9-4B90-8041-B9EFC5A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1.75</a:t>
            </a:r>
          </a:p>
        </p:txBody>
      </p:sp>
      <p:sp>
        <p:nvSpPr>
          <p:cNvPr id="17" name="cmp-v2-2">
            <a:extLst xmlns:a="http://schemas.openxmlformats.org/drawingml/2006/main">
              <a:ext uri="{FF2B5EF4-FFF2-40B4-BE49-F238E27FC236}">
                <a16:creationId xmlns:a16="http://schemas.microsoft.com/office/drawing/2014/main" id="{99A4C031-E082-4ED5-A30F-E5B45B9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766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3.67</a:t>
            </a:r>
          </a:p>
        </p:txBody>
      </p:sp>
      <p:sp>
        <p:nvSpPr>
          <p:cNvPr id="18" name="cmp-row-3">
            <a:extLst xmlns:a="http://schemas.openxmlformats.org/drawingml/2006/main">
              <a:ext uri="{FF2B5EF4-FFF2-40B4-BE49-F238E27FC236}">
                <a16:creationId xmlns:a16="http://schemas.microsoft.com/office/drawing/2014/main" id="{3678D87B-86A2-418B-AB76-4B8A42D0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cmp-label-3">
            <a:extLst xmlns:a="http://schemas.openxmlformats.org/drawingml/2006/main">
              <a:ext uri="{FF2B5EF4-FFF2-40B4-BE49-F238E27FC236}">
                <a16:creationId xmlns:a16="http://schemas.microsoft.com/office/drawing/2014/main" id="{3870846E-5E75-4FFC-94F1-5E83A21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196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fertility</a:t>
            </a:r>
          </a:p>
        </p:txBody>
      </p:sp>
      <p:sp>
        <p:nvSpPr>
          <p:cNvPr id="20" name="cmp-v1-3">
            <a:extLst xmlns:a="http://schemas.openxmlformats.org/drawingml/2006/main">
              <a:ext uri="{FF2B5EF4-FFF2-40B4-BE49-F238E27FC236}">
                <a16:creationId xmlns:a16="http://schemas.microsoft.com/office/drawing/2014/main" id="{17B33035-A765-4BD0-B813-4CA35C34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2.034</a:t>
            </a:r>
          </a:p>
        </p:txBody>
      </p:sp>
      <p:sp>
        <p:nvSpPr>
          <p:cNvPr id="21" name="cmp-v2-3">
            <a:extLst xmlns:a="http://schemas.openxmlformats.org/drawingml/2006/main">
              <a:ext uri="{FF2B5EF4-FFF2-40B4-BE49-F238E27FC236}">
                <a16:creationId xmlns:a16="http://schemas.microsoft.com/office/drawing/2014/main" id="{16673035-402B-4DDF-B928-EFF10B5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96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2.474</a:t>
            </a:r>
          </a:p>
        </p:txBody>
      </p:sp>
      <p:sp>
        <p:nvSpPr>
          <p:cNvPr id="22" name="cmp-row-4">
            <a:extLst xmlns:a="http://schemas.openxmlformats.org/drawingml/2006/main">
              <a:ext uri="{FF2B5EF4-FFF2-40B4-BE49-F238E27FC236}">
                <a16:creationId xmlns:a16="http://schemas.microsoft.com/office/drawing/2014/main" id="{ECACC73F-1B2B-4250-9D27-46A5E7C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cmp-label-4">
            <a:extLst xmlns:a="http://schemas.openxmlformats.org/drawingml/2006/main">
              <a:ext uri="{FF2B5EF4-FFF2-40B4-BE49-F238E27FC236}">
                <a16:creationId xmlns:a16="http://schemas.microsoft.com/office/drawing/2014/main" id="{1EFE1DF9-5EFF-496B-AF36-1D4586D8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First-child rooms</a:t>
            </a:r>
          </a:p>
        </p:txBody>
      </p:sp>
      <p:sp>
        <p:nvSpPr>
          <p:cNvPr id="24" name="cmp-v1-4">
            <a:extLst xmlns:a="http://schemas.openxmlformats.org/drawingml/2006/main">
              <a:ext uri="{FF2B5EF4-FFF2-40B4-BE49-F238E27FC236}">
                <a16:creationId xmlns:a16="http://schemas.microsoft.com/office/drawing/2014/main" id="{809EEF27-3941-48BE-81BF-695E30B5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0.681</a:t>
            </a:r>
          </a:p>
        </p:txBody>
      </p:sp>
      <p:sp>
        <p:nvSpPr>
          <p:cNvPr id="25" name="cmp-v2-4">
            <a:extLst xmlns:a="http://schemas.openxmlformats.org/drawingml/2006/main">
              <a:ext uri="{FF2B5EF4-FFF2-40B4-BE49-F238E27FC236}">
                <a16:creationId xmlns:a16="http://schemas.microsoft.com/office/drawing/2014/main" id="{3A94ACA4-9A9B-4C2A-933E-C24AB9DA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625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1.091</a:t>
            </a:r>
          </a:p>
        </p:txBody>
      </p:sp>
    </p:spTree>
    <p:extLst>
      <p:ext uri="{BB962C8B-B14F-4D97-AF65-F5344CB8AC3E}">
        <p14:creationId xmlns:p14="http://schemas.microsoft.com/office/powerpoint/2010/main" val="17860551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441013F7-2C1F-436A-BCAC-0E628675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Lead with what is reproducible — and volunteer the limits</a:t>
            </a:r>
          </a:p>
        </p:txBody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DFED1EFE-228F-4373-AB26-DC296F37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3" name="source-footer-13">
            <a:extLst xmlns:a="http://schemas.openxmlformats.org/drawingml/2006/main">
              <a:ext uri="{FF2B5EF4-FFF2-40B4-BE49-F238E27FC236}">
                <a16:creationId xmlns:a16="http://schemas.microsoft.com/office/drawing/2014/main" id="{561CEC71-6FCA-4390-86C6-6174A92A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Meeting language distilled from the re-audit</a:t>
            </a:r>
          </a:p>
        </p:txBody>
      </p:sp>
      <p:sp>
        <p:nvSpPr>
          <p:cNvPr id="4" name="safe-head">
            <a:extLst xmlns:a="http://schemas.openxmlformats.org/drawingml/2006/main">
              <a:ext uri="{FF2B5EF4-FFF2-40B4-BE49-F238E27FC236}">
                <a16:creationId xmlns:a16="http://schemas.microsoft.com/office/drawing/2014/main" id="{2D1EFF58-6BC8-40FA-AD30-7A6579D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865A"/>
                </a:solidFill>
                <a:latin typeface="Helvetica Neue"/>
                <a:ea typeface="Helvetica Neue"/>
                <a:cs typeface="Helvetica Neue"/>
              </a:defRPr>
            </a:pPr>
            <a:r>
              <a:t>Safe to say</a:t>
            </a:r>
          </a:p>
        </p:txBody>
      </p:sp>
      <p:sp>
        <p:nvSpPr>
          <p:cNvPr id="5" name="safe-body">
            <a:extLst xmlns:a="http://schemas.openxmlformats.org/drawingml/2006/main">
              <a:ext uri="{FF2B5EF4-FFF2-40B4-BE49-F238E27FC236}">
                <a16:creationId xmlns:a16="http://schemas.microsoft.com/office/drawing/2014/main" id="{05D5BA13-7021-4AE3-9ADF-B301E04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The M5 tables are exactly reproducible.
• The old-age ownership miss is real and dominant.
• Income risk is a provisional feasibility restriction.
• New experiments reveal trade-offs; none replaces M5.</a:t>
            </a:r>
          </a:p>
        </p:txBody>
      </p:sp>
      <p:sp>
        <p:nvSpPr>
          <p:cNvPr id="6" name="unsafe-head">
            <a:extLst xmlns:a="http://schemas.openxmlformats.org/drawingml/2006/main">
              <a:ext uri="{FF2B5EF4-FFF2-40B4-BE49-F238E27FC236}">
                <a16:creationId xmlns:a16="http://schemas.microsoft.com/office/drawing/2014/main" id="{F966103E-5B91-4F7D-86BA-2B41DE54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Do not say</a:t>
            </a:r>
          </a:p>
        </p:txBody>
      </p:sp>
      <p:sp>
        <p:nvSpPr>
          <p:cNvPr id="7" name="unsafe-body">
            <a:extLst xmlns:a="http://schemas.openxmlformats.org/drawingml/2006/main">
              <a:ext uri="{FF2B5EF4-FFF2-40B4-BE49-F238E27FC236}">
                <a16:creationId xmlns:a16="http://schemas.microsoft.com/office/drawing/2014/main" id="{DA12C84F-BA74-48AA-A096-E7365583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4953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The 14 parameters are precisely identified.
• 1.918 is a period TFR or fully sourced target.
• M5 has sequential birth hazards or a mortgage contract.
• The loss is a χ² statistic.
• E1 is the new baseline.</a:t>
            </a:r>
          </a:p>
        </p:txBody>
      </p:sp>
    </p:spTree>
    <p:extLst>
      <p:ext uri="{BB962C8B-B14F-4D97-AF65-F5344CB8AC3E}">
        <p14:creationId xmlns:p14="http://schemas.microsoft.com/office/powerpoint/2010/main" val="1702011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49B64411-1F15-48B3-B086-019D71EA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meeting to choose the next credibility margin</a:t>
            </a:r>
          </a:p>
        </p:txBody>
      </p:sp>
      <p:sp>
        <p:nvSpPr>
          <p:cNvPr id="2" name="source-footer-14">
            <a:extLst xmlns:a="http://schemas.openxmlformats.org/drawingml/2006/main">
              <a:ext uri="{FF2B5EF4-FFF2-40B4-BE49-F238E27FC236}">
                <a16:creationId xmlns:a16="http://schemas.microsoft.com/office/drawing/2014/main" id="{3E1DB776-6CA2-4C1F-B09D-BA1048B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Discussion questions</a:t>
            </a:r>
          </a:p>
        </p:txBody>
      </p:sp>
      <p:sp>
        <p:nvSpPr>
          <p:cNvPr id="3" name="q1n">
            <a:extLst xmlns:a="http://schemas.openxmlformats.org/drawingml/2006/main">
              <a:ext uri="{FF2B5EF4-FFF2-40B4-BE49-F238E27FC236}">
                <a16:creationId xmlns:a16="http://schemas.microsoft.com/office/drawing/2014/main" id="{7F6FAED7-2816-48C4-8CC7-01179A4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q1">
            <a:extLst xmlns:a="http://schemas.openxmlformats.org/drawingml/2006/main">
              <a:ext uri="{FF2B5EF4-FFF2-40B4-BE49-F238E27FC236}">
                <a16:creationId xmlns:a16="http://schemas.microsoft.com/office/drawing/2014/main" id="{270DCEE9-DCBF-4219-94AA-B0A3999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90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 one-shot completed fertility acceptable if timing claims are removed?</a:t>
            </a:r>
          </a:p>
        </p:txBody>
      </p:sp>
      <p:sp>
        <p:nvSpPr>
          <p:cNvPr id="5" name="q2n">
            <a:extLst xmlns:a="http://schemas.openxmlformats.org/drawingml/2006/main">
              <a:ext uri="{FF2B5EF4-FFF2-40B4-BE49-F238E27FC236}">
                <a16:creationId xmlns:a16="http://schemas.microsoft.com/office/drawing/2014/main" id="{ADDA061A-B0D6-4810-9FC9-4663710D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q2">
            <a:extLst xmlns:a="http://schemas.openxmlformats.org/drawingml/2006/main">
              <a:ext uri="{FF2B5EF4-FFF2-40B4-BE49-F238E27FC236}">
                <a16:creationId xmlns:a16="http://schemas.microsoft.com/office/drawing/2014/main" id="{46A483B1-E166-43CC-8E2E-C76F1345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990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Should the next baseline prioritize income insurance or old-age exit?</a:t>
            </a:r>
          </a:p>
        </p:txBody>
      </p:sp>
      <p:sp>
        <p:nvSpPr>
          <p:cNvPr id="7" name="q3n">
            <a:extLst xmlns:a="http://schemas.openxmlformats.org/drawingml/2006/main">
              <a:ext uri="{FF2B5EF4-FFF2-40B4-BE49-F238E27FC236}">
                <a16:creationId xmlns:a16="http://schemas.microsoft.com/office/drawing/2014/main" id="{C913EF29-288A-414E-801D-49D502DE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8" name="q3">
            <a:extLst xmlns:a="http://schemas.openxmlformats.org/drawingml/2006/main">
              <a:ext uri="{FF2B5EF4-FFF2-40B4-BE49-F238E27FC236}">
                <a16:creationId xmlns:a16="http://schemas.microsoft.com/office/drawing/2014/main" id="{E1CFB551-76E2-4B41-8131-A93970C8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90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Should weak bequest/tenure parameters be externally fixed or newly identified?</a:t>
            </a:r>
          </a:p>
        </p:txBody>
      </p:sp>
      <p:sp>
        <p:nvSpPr>
          <p:cNvPr id="9" name="q4n">
            <a:extLst xmlns:a="http://schemas.openxmlformats.org/drawingml/2006/main">
              <a:ext uri="{FF2B5EF4-FFF2-40B4-BE49-F238E27FC236}">
                <a16:creationId xmlns:a16="http://schemas.microsoft.com/office/drawing/2014/main" id="{ED1B00CB-193E-452B-B6EF-B04F9999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0" name="q4">
            <a:extLst xmlns:a="http://schemas.openxmlformats.org/drawingml/2006/main">
              <a:ext uri="{FF2B5EF4-FFF2-40B4-BE49-F238E27FC236}">
                <a16:creationId xmlns:a16="http://schemas.microsoft.com/office/drawing/2014/main" id="{7294D1F5-6A01-412E-B3A0-D0D6E0F2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90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paper claims truly require a credible late-life portfolio block?</a:t>
            </a:r>
          </a:p>
        </p:txBody>
      </p:sp>
    </p:spTree>
    <p:extLst>
      <p:ext uri="{BB962C8B-B14F-4D97-AF65-F5344CB8AC3E}">
        <p14:creationId xmlns:p14="http://schemas.microsoft.com/office/powerpoint/2010/main" val="15937473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-15">
            <a:extLst xmlns:a="http://schemas.openxmlformats.org/drawingml/2006/main">
              <a:ext uri="{FF2B5EF4-FFF2-40B4-BE49-F238E27FC236}">
                <a16:creationId xmlns:a16="http://schemas.microsoft.com/office/drawing/2014/main" id="{D260341A-8485-4B4F-BC7F-C25003DC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Appendix: all M5 parameters and bounds</a:t>
            </a:r>
          </a:p>
        </p:txBody>
      </p:sp>
      <p:sp>
        <p:nvSpPr>
          <p:cNvPr id="2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5851D751-56C7-4A4C-9917-49DE4BE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3" name="source-footer-15">
            <a:extLst xmlns:a="http://schemas.openxmlformats.org/drawingml/2006/main">
              <a:ext uri="{FF2B5EF4-FFF2-40B4-BE49-F238E27FC236}">
                <a16:creationId xmlns:a16="http://schemas.microsoft.com/office/drawing/2014/main" id="{54222C44-4B12-42C9-B89F-7D578628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M5 parameter_table_full.csv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952500" y="1285875"/>
          <a:ext xmlns:a="http://schemas.openxmlformats.org/drawingml/2006/main" cx="10287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00250"/>
                <a:gridCol w="3619500"/>
                <a:gridCol w="2381250"/>
              </a:tblGrid>
              <a:tr h="2762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Parameter</a:t>
                      </a:r>
                    </a:p>
                  </a:txBody>
                  <a:tcPr marL="76200" marR="76200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Estimate</a:t>
                      </a:r>
                    </a:p>
                  </a:txBody>
                  <a:tcPr marL="76200" marR="76200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Bound / restriction</a:t>
                      </a:r>
                    </a:p>
                  </a:txBody>
                  <a:tcPr marL="76200" marR="76200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Role</a:t>
                      </a:r>
                    </a:p>
                  </a:txBody>
                  <a:tcPr marL="76200" marR="76200" marT="19050" marB="19050">
                    <a:solidFill>
                      <a:srgbClr val="D0EDFA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β annual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0.9912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[0.8000, 0.9995]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αc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0.5912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[0.02, 0.98]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c̄0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1.2596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2]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c̄n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0.3929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3]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h̄0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0.3915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[0.05, 5.8]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h̄ jump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1.6021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8]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h̄n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0.1644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5]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ψ child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0.1979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[-3, 3]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κF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2.0434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[0.02, 50]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χO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1.1133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[0.1, 5]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H̄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8.6456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[0.2, 80]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θ0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0.3118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8]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θ1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0.3973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[0.02, 16]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κT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0.0100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[0, 0.12]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Estimated</a:t>
                      </a:r>
                    </a:p>
                  </a:txBody>
                  <a:tcPr marL="76200" marR="76200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θn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External restriction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Fixed</a:t>
                      </a:r>
                    </a:p>
                  </a:txBody>
                  <a:tcPr marL="76200" marR="76200" marT="19050" marB="190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513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16">
            <a:extLst xmlns:a="http://schemas.openxmlformats.org/drawingml/2006/main">
              <a:ext uri="{FF2B5EF4-FFF2-40B4-BE49-F238E27FC236}">
                <a16:creationId xmlns:a16="http://schemas.microsoft.com/office/drawing/2014/main" id="{F92E7D94-2CB1-414D-9356-AB334475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715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Appendix: complete M5 target fit</a:t>
            </a:r>
          </a:p>
        </p:txBody>
      </p:sp>
      <p:sp>
        <p:nvSpPr>
          <p:cNvPr id="2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750436C7-209C-411D-95EA-D10D737E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96025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3" name="source-footer-16">
            <a:extLst xmlns:a="http://schemas.openxmlformats.org/drawingml/2006/main">
              <a:ext uri="{FF2B5EF4-FFF2-40B4-BE49-F238E27FC236}">
                <a16:creationId xmlns:a16="http://schemas.microsoft.com/office/drawing/2014/main" id="{2EBB4385-1BD9-4EC1-AD1C-5C564FA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3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M5 target_fit_full.csv</a:t>
            </a:r>
          </a:p>
        </p:txBody>
      </p:sp>
      <p:sp>
        <p:nvSpPr>
          <p:cNvPr id="4" name="fit-app-note">
            <a:extLst xmlns:a="http://schemas.openxmlformats.org/drawingml/2006/main">
              <a:ext uri="{FF2B5EF4-FFF2-40B4-BE49-F238E27FC236}">
                <a16:creationId xmlns:a16="http://schemas.microsoft.com/office/drawing/2014/main" id="{03776099-B481-4591-A4CF-8D443CE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t>* Source-unconfirmed in the repository reproduction audit.</a:t>
            </a:r>
          </a:p>
        </p:txBody>
      </p:sp>
      <p:sp>
        <p:nvSpPr>
          <p:cNvPr id="5" name="fit-app-total">
            <a:extLst xmlns:a="http://schemas.openxmlformats.org/drawingml/2006/main">
              <a:ext uri="{FF2B5EF4-FFF2-40B4-BE49-F238E27FC236}">
                <a16:creationId xmlns:a16="http://schemas.microsoft.com/office/drawing/2014/main" id="{CF76F475-5C01-4057-A8B5-323A4F15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0550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Total loss 9.044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76300" y="1181100"/>
          <a:ext xmlns:a="http://schemas.openxmlformats.org/drawingml/2006/main" cx="10429875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10125"/>
                <a:gridCol w="1381125"/>
                <a:gridCol w="1381125"/>
                <a:gridCol w="1428750"/>
                <a:gridCol w="1428750"/>
              </a:tblGrid>
              <a:tr h="2762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Moment</a:t>
                      </a:r>
                    </a:p>
                  </a:txBody>
                  <a:tcPr marL="66675" marR="66675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66675" marR="66675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marL="66675" marR="66675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Weight</a:t>
                      </a:r>
                    </a:p>
                  </a:txBody>
                  <a:tcPr marL="66675" marR="66675" marT="19050" marB="190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marL="66675" marR="66675" marT="19050" marB="19050">
                    <a:solidFill>
                      <a:srgbClr val="D0EDFA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Completed fertility*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1.918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2.034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20.0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0.271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Childlessness*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0.188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0.189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20.0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Ownership 30–55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0.575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0.658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0.687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Family ownership gap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0.168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0.219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45.0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0.121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First-child rooms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0.664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0.681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14.0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0.004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Childless renter rooms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3.805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3.963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0.150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Childless owner ≥6 rooms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0.596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0.760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25.0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Young liquid wealth / income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0.179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0.328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0.265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Owner–renter rooms gap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2.419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2.323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0.111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Ownership 25–34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0.341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0.274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80.0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0.356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3+ versus 1–2 rooms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0.368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0.607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0.460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Estate median / income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6.501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6.431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18.6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0.092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Nonhousing ≥ income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0.608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0.610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9435.2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0.027</a:t>
                      </a:r>
                    </a:p>
                  </a:txBody>
                  <a:tcPr marL="66675" marR="66675" marT="19050" marB="1905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Ownership 65–75</a:t>
                      </a:r>
                    </a:p>
                  </a:txBody>
                  <a:tcPr marL="66675" marR="66675" marT="19050" marB="1905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0.764</a:t>
                      </a:r>
                    </a:p>
                  </a:txBody>
                  <a:tcPr marL="66675" marR="66675" marT="19050" marB="1905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0.954</a:t>
                      </a:r>
                    </a:p>
                  </a:txBody>
                  <a:tcPr marL="66675" marR="66675" marT="19050" marB="1905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160.0</a:t>
                      </a:r>
                    </a:p>
                  </a:txBody>
                  <a:tcPr marL="66675" marR="66675" marT="19050" marB="1905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5.759</a:t>
                      </a:r>
                    </a:p>
                  </a:txBody>
                  <a:tcPr marL="66675" marR="66675" marT="19050" marB="19050">
                    <a:solidFill>
                      <a:srgbClr val="FCE9E9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Mean occupied rooms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5.780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5.673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6.0</a:t>
                      </a:r>
                    </a:p>
                  </a:txBody>
                  <a:tcPr marL="66675" marR="66675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0.069</a:t>
                      </a:r>
                    </a:p>
                  </a:txBody>
                  <a:tcPr marL="66675" marR="66675" marT="19050" marB="190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085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2026-07-20T22:08:59.2330000Z</dcterms:created>
  <dcterms:modified xsi:type="dcterms:W3CDTF">2026-07-20T22:08:59.2330000Z</dcterms:modified>
</coreProperties>
</file>