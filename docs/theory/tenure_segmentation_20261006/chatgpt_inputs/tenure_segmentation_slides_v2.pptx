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895a1801df4fa7" /><Relationship Type="http://schemas.openxmlformats.org/officeDocument/2006/relationships/extended-properties" Target="/docProps/app.xml" Id="R22bc2585c42344cc" /><Relationship Type="http://schemas.openxmlformats.org/officeDocument/2006/relationships/officeDocument" Target="/ppt/presentation.xml" Id="Rf4844c2630174a75" /></Relationships>
</file>

<file path=ppt/presentation.xml><?xml version="1.0" encoding="utf-8"?>
<p:presentation xmlns:p="http://schemas.openxmlformats.org/presentationml/2006/main">
  <p:sldMasterIdLst>
    <p:sldMasterId xmlns:r="http://schemas.openxmlformats.org/officeDocument/2006/relationships" id="2147483648" r:id="R511ba81410d84c49"/>
  </p:sldMasterIdLst>
  <p:notesMasterIdLst>
    <p:notesMasterId xmlns:r="http://schemas.openxmlformats.org/officeDocument/2006/relationships" r:id="R6566bea132494904"/>
  </p:notesMasterIdLst>
  <p:sldIdLst>
    <p:sldId xmlns:r="http://schemas.openxmlformats.org/officeDocument/2006/relationships" id="256" r:id="R37ff878867ed4dc2"/>
    <p:sldId xmlns:r="http://schemas.openxmlformats.org/officeDocument/2006/relationships" id="257" r:id="R994f4c2e69ea49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b058231bcf4479" /><Relationship Type="http://schemas.openxmlformats.org/officeDocument/2006/relationships/slideMaster" Target="/ppt/slideMasters/slideMaster1.xml" Id="R511ba81410d84c49" /><Relationship Type="http://schemas.openxmlformats.org/officeDocument/2006/relationships/notesMaster" Target="/ppt/notesMasters/notesMaster1.xml" Id="R6566bea132494904" /><Relationship Type="http://schemas.openxmlformats.org/officeDocument/2006/relationships/presProps" Target="/ppt/presProps.xml" Id="R529d184653624703" /><Relationship Type="http://schemas.openxmlformats.org/officeDocument/2006/relationships/tableStyles" Target="/ppt/tableStyles.xml" Id="R9ae1259a2a704729" /><Relationship Type="http://schemas.openxmlformats.org/officeDocument/2006/relationships/slide" Target="/ppt/slides/slide1.xml" Id="R37ff878867ed4dc2" /><Relationship Type="http://schemas.openxmlformats.org/officeDocument/2006/relationships/slide" Target="/ppt/slides/slide2.xml" Id="R994f4c2e69ea49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003ce2690a42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62a0c8edc748a3" /><Relationship Type="http://schemas.openxmlformats.org/officeDocument/2006/relationships/notesMaster" Target="/ppt/notesMasters/notesMaster1.xml" Id="Rb65f6c39740f46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9657a56e9849ac" /><Relationship Type="http://schemas.openxmlformats.org/officeDocument/2006/relationships/notesMaster" Target="/ppt/notesMasters/notesMaster1.xml" Id="Rafb06d363f1c40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Theory slide 1 corresponds to page 1 and the finance connection on page 2 of the note. This is the conditional renter subproblem, not a general monotonicity theorem for endogenous tenure. At common flow expenditure x, c+rh=x, h≤H and parent floor h_P, with alpha in (0,1), sigma&gt;1, e_0=1 and e_1&gt;=1, h_m*=(1-alpha)x/r+alpha*m*h_P. x_1=r(H-alpha*h_P)/(1-alpha), x_0=rH/(1-alpha). The cap multiplier zeta_m is zero if slack. The derivative of the conditional birth advantage D with respect to H is zeta_1-zeta_0&gt;=0 and strictly positive when x&gt;x_1. The diagram highlights the strongest sufficient region x_1&lt;x&lt;x_0. Above H only owned options are available in the quantitative model; with the current discrete owner menu those sizes are 8 and 10. A parent can still rent because H=6 exceeds h_P=2.585. The standard simultaneous purchase budget is b'=M-Ph-c-k(h)&gt;=-phi*Ph, which implies the displayed inequality. M includes current income, transfers and beginning liquid assets with their return. It is not a requirement to pay the down payment solely out of beginning wealth. Existing owners can use equity. The note's proof does not rely on selling costs. Benchmark inputs from the user-supplied memo dated 6 October 2026: alpha=.733, r=.1405 per four-year period, h_P=2.585, H=6. Thresholds are expenditures, not income or wealth cutoffs. Related literature: Sommer (2016), Journal of Monetary Economics 83, 27–38, https://www.kamilasommer.net/Fertility.pdf; Fisher and Gervais (2011), International Economic Review 52(3), 883–912, https://www.chicagofed.org/publications/working-papers/2009/wp-01. The propositions and figure are original conditional derivations from the supplied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Theory slide 2 corresponds to Proposition 2 on page 2 of the note. D_H is the conditional first-child utility advantage with rental cap H, and D_infty uses the same prices and expenditure without the cap. L=D_infty-D_H. Near x_1 the childless renter remains slack. Let t_1=x_1-r*h_P and lambda=J_1,infty_x(x_1)&gt;0. Free and capped values and slopes coincide at x_1. J_1,infty_xx=-sigma*lambda/t_1; J_1,H_xx(x_1+)=-[1+alpha*(sigma-1)]lambda/(alpha*t_1). Thus L''(x_1+)=(1-alpha)lambda/(alpha*t_1)&gt;0. L=0 just below x_1 and is convex in a sufficiently small neighborhood. For a spread X with mean xbar supported there, the cap's additional penalty in the birth value gap is E[L(X)]-L(xbar)&gt;=0. For equiprobable X=x_1 plus or minus epsilon it is L''(x_1+)epsilon^2/4+o(epsilon^2). At mean x_1 the certainty gaps agree, so an increasing logit yields a larger fertility decline with the cap. Away from a common certainty gap, rankings of value penalties need not rank changes in birth probabilities. The diagram is the local quadratic approximation L(x)≈(1/2)L''(x_1+)(x-x_1)_+^2, with normalized axes. Its red chord depicts the expectation and the vertical segment the additional risk penalty. This is an analytical diagram, not a simulated result. The cap restricts expansion in favorable states; it does not need to bind at the poorest expenditures. The conclusion requires both branches to rent locally or inactive owner alternatives, continuous rental size, fixed prices and relevant expenditure comparison, and risk before the child-related period. With endogenous tenure and fixed continuation, ∂G/∂H=p_R^1*zeta_1-p_R^0*zeta_0. A slack childless rental option plus binding parental rental option with positive renter probability gives a clean sufficient condition. For permanent changes, include discounted future cap multipliers along both paths. Quantitative diagnostic: first locate parental rental-cap exposure and evaluate the owner alternative, then compare rental-menu expansion across future risk levels at the same initial distribution, prices and expected earnings in levels, including a zero-selling-cost case. The full model has H6, parent floor2.585 and owner menu2/4/6/8/10. Fixed entrant wealth prevents claims about own-parent inheritance transmission. Related literature: Sommer (2016), https://www.kamilasommer.net/Fertility.pdf; Fisher and Gervais (2011), https://www.chicagofed.org/publications/working-papers/2009/wp-01. These are original conditional derivations.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6257bdcf51489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3007e36ef74ea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f4b2bbe83b9486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79bc06a6de4c7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c24d3ec27b6435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ffd761bf6a04c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0773623-73CE-493E-98B5-851879EB31D7}"/>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E5BE831-BE99-4703-BDF2-A6AA3FC99B7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B27A13D2-B813-494A-97B0-EAD06F7D09C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57BF46CB-3809-4F11-BF23-E7D1AE9D23E7}"/>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D72C3C6D-CFD3-453C-869D-19438297AD6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384510C-4FAF-451F-832C-DB017EAAD14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6C6EFEE-20D3-4504-BB6F-02735437CA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F994CA46-694A-47A2-8CB0-A607E90F77F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847FFAB8-FEC0-4DF6-86D6-754A9223A21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CE5504A-0D30-4963-9E47-5F93202E87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C8CFCC8-1633-4632-8B61-F0E1A00D9A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A55ACC6B-0E92-47AC-8AFE-5E7B082DC48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ECA37DF-E527-412E-A743-0A78888A52E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3F84851-69FD-4DC3-8108-3763CD1767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7AACE0D-0783-4276-8530-A4B646F784B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db53c4c29640bb" /><Relationship Type="http://schemas.openxmlformats.org/officeDocument/2006/relationships/slideLayout" Target="/ppt/slideLayouts/slideLayout1.xml" Id="Rbf1a269706d849cf" /><Relationship Type="http://schemas.openxmlformats.org/officeDocument/2006/relationships/slideLayout" Target="/ppt/slideLayouts/slideLayout2.xml" Id="R483490a4462d474a" /><Relationship Type="http://schemas.openxmlformats.org/officeDocument/2006/relationships/slideLayout" Target="/ppt/slideLayouts/slideLayout3.xml" Id="R93a9cf48cf6e4ad9" /><Relationship Type="http://schemas.openxmlformats.org/officeDocument/2006/relationships/slideLayout" Target="/ppt/slideLayouts/slideLayout4.xml" Id="R110b0fc6f7ce4eec" /><Relationship Type="http://schemas.openxmlformats.org/officeDocument/2006/relationships/slideLayout" Target="/ppt/slideLayouts/slideLayout5.xml" Id="R0e2c1343011b4bb7" /><Relationship Type="http://schemas.openxmlformats.org/officeDocument/2006/relationships/slideLayout" Target="/ppt/slideLayouts/slideLayout6.xml" Id="R81d600dfeeea48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1a269706d849cf"/>
    <p:sldLayoutId xmlns:r="http://schemas.openxmlformats.org/officeDocument/2006/relationships" id="2147483650" r:id="R483490a4462d474a"/>
    <p:sldLayoutId xmlns:r="http://schemas.openxmlformats.org/officeDocument/2006/relationships" id="2147483651" r:id="R93a9cf48cf6e4ad9"/>
    <p:sldLayoutId xmlns:r="http://schemas.openxmlformats.org/officeDocument/2006/relationships" id="2147483652" r:id="R110b0fc6f7ce4eec"/>
    <p:sldLayoutId xmlns:r="http://schemas.openxmlformats.org/officeDocument/2006/relationships" id="2147483653" r:id="R0e2c1343011b4bb7"/>
    <p:sldLayoutId xmlns:r="http://schemas.openxmlformats.org/officeDocument/2006/relationships" id="2147483654" r:id="R81d600dfeeea48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7be5b78bcfa4522" /><Relationship Type="http://schemas.openxmlformats.org/officeDocument/2006/relationships/notesSlide" Target="/ppt/notesSlides/notesSlide1.xml" Id="Rd9a8283b7f3b4d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3a4bf877e7246f3" /><Relationship Type="http://schemas.openxmlformats.org/officeDocument/2006/relationships/notesSlide" Target="/ppt/notesSlides/notesSlide2.xml" Id="Ra0420c03dff2451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title">
            <a:extLst xmlns:a="http://schemas.openxmlformats.org/drawingml/2006/main">
              <a:ext uri="{FF2B5EF4-FFF2-40B4-BE49-F238E27FC236}">
                <a16:creationId xmlns:a16="http://schemas.microsoft.com/office/drawing/2014/main" id="{8A312C19-7722-43BE-AF85-C367C3B5EE93}"/>
              </a:ext>
            </a:extLst>
          </p:cNvPr>
          <p:cNvSpPr>
            <a:spLocks xmlns:a="http://schemas.openxmlformats.org/drawingml/2006/main" noGrp="1"/>
          </p:cNvSpPr>
          <p:nvPr/>
        </p:nvSpPr>
        <p:spPr>
          <a:xfrm xmlns:a="http://schemas.openxmlformats.org/drawingml/2006/main">
            <a:off x="590550" y="323850"/>
            <a:ext cx="11010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E44"/>
                </a:solidFill>
                <a:latin typeface="DejaVu Sans"/>
                <a:ea typeface="DejaVu Sans"/>
                <a:cs typeface="DejaVu Sans"/>
              </a:defRPr>
            </a:pPr>
            <a:r>
              <a:rPr sz="3300" b="1">
                <a:solidFill>
                  <a:srgbClr val="172E44"/>
                </a:solidFill>
                <a:latin typeface="DejaVu Sans"/>
                <a:ea typeface="DejaVu Sans"/>
                <a:cs typeface="DejaVu Sans"/>
              </a:rPr>
              <a:t>Tenure segmentation and family space</a:t>
            </a:r>
          </a:p>
        </p:txBody>
      </p:sp>
      <p:sp>
        <p:nvSpPr>
          <p:cNvPr id="2" name="premise">
            <a:extLst xmlns:a="http://schemas.openxmlformats.org/drawingml/2006/main">
              <a:ext uri="{FF2B5EF4-FFF2-40B4-BE49-F238E27FC236}">
                <a16:creationId xmlns:a16="http://schemas.microsoft.com/office/drawing/2014/main" id="{5E507157-444F-41C3-9C41-7059DB3911B5}"/>
              </a:ext>
            </a:extLst>
          </p:cNvPr>
          <p:cNvSpPr>
            <a:spLocks xmlns:a="http://schemas.openxmlformats.org/drawingml/2006/main" noGrp="1"/>
          </p:cNvSpPr>
          <p:nvPr/>
        </p:nvSpPr>
        <p:spPr>
          <a:xfrm xmlns:a="http://schemas.openxmlformats.org/drawingml/2006/main">
            <a:off x="609600" y="10572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72E44"/>
                </a:solidFill>
                <a:latin typeface="DejaVu Sans"/>
                <a:ea typeface="DejaVu Sans"/>
                <a:cs typeface="DejaVu Sans"/>
              </a:defRPr>
            </a:pPr>
            <a:r>
              <a:rPr sz="2100" b="0">
                <a:solidFill>
                  <a:srgbClr val="172E44"/>
                </a:solidFill>
                <a:latin typeface="DejaVu Sans"/>
                <a:ea typeface="DejaVu Sans"/>
                <a:cs typeface="DejaVu Sans"/>
              </a:rPr>
              <a:t>Rental budget: c + rh = x, with h ≤ H. Larger homes require ownership.</a:t>
            </a:r>
          </a:p>
        </p:txBody>
      </p:sp>
      <p:sp>
        <p:nvSpPr>
          <p:cNvPr id="3" name="demand">
            <a:extLst xmlns:a="http://schemas.openxmlformats.org/drawingml/2006/main">
              <a:ext uri="{FF2B5EF4-FFF2-40B4-BE49-F238E27FC236}">
                <a16:creationId xmlns:a16="http://schemas.microsoft.com/office/drawing/2014/main" id="{730B254D-4E49-4CEE-9427-55B11B9533FA}"/>
              </a:ext>
            </a:extLst>
          </p:cNvPr>
          <p:cNvSpPr>
            <a:spLocks xmlns:a="http://schemas.openxmlformats.org/drawingml/2006/main" noGrp="1"/>
          </p:cNvSpPr>
          <p:nvPr/>
        </p:nvSpPr>
        <p:spPr>
          <a:xfrm xmlns:a="http://schemas.openxmlformats.org/drawingml/2006/main">
            <a:off x="781050" y="1638300"/>
            <a:ext cx="576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087E8B"/>
                </a:solidFill>
                <a:latin typeface="DejaVu Serif"/>
                <a:ea typeface="DejaVu Serif"/>
                <a:cs typeface="DejaVu Serif"/>
              </a:defRPr>
            </a:pPr>
            <a:r>
              <a:rPr sz="2325" b="0">
                <a:solidFill>
                  <a:srgbClr val="087E8B"/>
                </a:solidFill>
                <a:latin typeface="DejaVu Serif"/>
                <a:ea typeface="DejaVu Serif"/>
                <a:cs typeface="DejaVu Serif"/>
              </a:rPr>
              <a:t>h₁*(x) = h₀*(x) + αhₚ</a:t>
            </a:r>
          </a:p>
        </p:txBody>
      </p:sp>
      <p:sp>
        <p:nvSpPr>
          <p:cNvPr id="4" name="demand-definitions">
            <a:extLst xmlns:a="http://schemas.openxmlformats.org/drawingml/2006/main">
              <a:ext uri="{FF2B5EF4-FFF2-40B4-BE49-F238E27FC236}">
                <a16:creationId xmlns:a16="http://schemas.microsoft.com/office/drawing/2014/main" id="{CBC7B567-14DE-4A3A-B2E4-968B0EFC9875}"/>
              </a:ext>
            </a:extLst>
          </p:cNvPr>
          <p:cNvSpPr>
            <a:spLocks xmlns:a="http://schemas.openxmlformats.org/drawingml/2006/main" noGrp="1"/>
          </p:cNvSpPr>
          <p:nvPr/>
        </p:nvSpPr>
        <p:spPr>
          <a:xfrm xmlns:a="http://schemas.openxmlformats.org/drawingml/2006/main">
            <a:off x="781050" y="2057400"/>
            <a:ext cx="6048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667481"/>
                </a:solidFill>
                <a:latin typeface="DejaVu Sans"/>
                <a:ea typeface="DejaVu Sans"/>
                <a:cs typeface="DejaVu Sans"/>
              </a:defRPr>
            </a:pPr>
            <a:r>
              <a:rPr sz="1425" b="0">
                <a:solidFill>
                  <a:srgbClr val="667481"/>
                </a:solidFill>
                <a:latin typeface="DejaVu Sans"/>
                <a:ea typeface="DejaVu Sans"/>
                <a:cs typeface="DejaVu Sans"/>
              </a:rPr>
              <a:t>α: consumption share. hₚ: parenthood space floor.</a:t>
            </a:r>
          </a:p>
        </p:txBody>
      </p:sp>
      <p:sp>
        <p:nvSpPr>
          <p:cNvPr id="5" name="parent-only-rental-band">
            <a:extLst xmlns:a="http://schemas.openxmlformats.org/drawingml/2006/main">
              <a:ext uri="{FF2B5EF4-FFF2-40B4-BE49-F238E27FC236}">
                <a16:creationId xmlns:a16="http://schemas.microsoft.com/office/drawing/2014/main" id="{12F3391C-6423-41AA-BD87-71BA62ABEDFB}"/>
              </a:ext>
            </a:extLst>
          </p:cNvPr>
          <p:cNvSpPr>
            <a:spLocks xmlns:a="http://schemas.openxmlformats.org/drawingml/2006/main" noGrp="1"/>
          </p:cNvSpPr>
          <p:nvPr/>
        </p:nvSpPr>
        <p:spPr>
          <a:xfrm xmlns:a="http://schemas.openxmlformats.org/drawingml/2006/main">
            <a:off x="3294061" y="2717922"/>
            <a:ext cx="1133534" cy="2597028"/>
          </a:xfrm>
          <a:prstGeom xmlns:a="http://schemas.openxmlformats.org/drawingml/2006/main" prst="rect">
            <a:avLst/>
          </a:prstGeom>
          <a:solidFill xmlns:a="http://schemas.openxmlformats.org/drawingml/2006/main">
            <a:srgbClr val="E5F2F1"/>
          </a:solidFill>
          <a:ln xmlns:a="http://schemas.openxmlformats.org/drawingml/2006/main" w="0">
            <a:noFill/>
          </a:ln>
        </p:spPr>
      </p:sp>
      <p:sp>
        <p:nvSpPr>
          <p:cNvPr id="6" name="expenditure-axis">
            <a:extLst xmlns:a="http://schemas.openxmlformats.org/drawingml/2006/main">
              <a:ext uri="{FF2B5EF4-FFF2-40B4-BE49-F238E27FC236}">
                <a16:creationId xmlns:a16="http://schemas.microsoft.com/office/drawing/2014/main" id="{72C1CD27-E1B9-4D6E-955D-66A3DCDBD659}"/>
              </a:ext>
            </a:extLst>
          </p:cNvPr>
          <p:cNvSpPr>
            <a:spLocks xmlns:a="http://schemas.openxmlformats.org/drawingml/2006/main" noGrp="1"/>
          </p:cNvSpPr>
          <p:nvPr/>
        </p:nvSpPr>
        <p:spPr>
          <a:xfrm xmlns:a="http://schemas.openxmlformats.org/drawingml/2006/main">
            <a:off x="838200" y="5314950"/>
            <a:ext cx="5286375" cy="953"/>
          </a:xfrm>
          <a:custGeom xmlns:a="http://schemas.openxmlformats.org/drawingml/2006/main">
            <a:pathLst>
              <a:path w="5286375" h="953">
                <a:moveTo>
                  <a:pt x="0" y="0"/>
                </a:moveTo>
                <a:lnTo>
                  <a:pt x="5286375" y="0"/>
                </a:lnTo>
              </a:path>
            </a:pathLst>
          </a:custGeom>
          <a:noFill xmlns:a="http://schemas.openxmlformats.org/drawingml/2006/main"/>
          <a:ln xmlns:a="http://schemas.openxmlformats.org/drawingml/2006/main" w="14288">
            <a:solidFill>
              <a:srgbClr val="172E44"/>
            </a:solidFill>
            <a:prstDash val="solid"/>
          </a:ln>
        </p:spPr>
      </p:sp>
      <p:sp>
        <p:nvSpPr>
          <p:cNvPr id="7" name="expenditure-axis-arrow">
            <a:extLst xmlns:a="http://schemas.openxmlformats.org/drawingml/2006/main">
              <a:ext uri="{FF2B5EF4-FFF2-40B4-BE49-F238E27FC236}">
                <a16:creationId xmlns:a16="http://schemas.microsoft.com/office/drawing/2014/main" id="{38160083-7FEB-4E92-92B2-C019D2E78A37}"/>
              </a:ext>
            </a:extLst>
          </p:cNvPr>
          <p:cNvSpPr>
            <a:spLocks xmlns:a="http://schemas.openxmlformats.org/drawingml/2006/main" noGrp="1"/>
          </p:cNvSpPr>
          <p:nvPr/>
        </p:nvSpPr>
        <p:spPr>
          <a:xfrm xmlns:a="http://schemas.openxmlformats.org/drawingml/2006/main">
            <a:off x="6048375" y="5276850"/>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E44"/>
          </a:solidFill>
          <a:ln xmlns:a="http://schemas.openxmlformats.org/drawingml/2006/main" w="5715">
            <a:solidFill>
              <a:srgbClr val="172E44"/>
            </a:solidFill>
            <a:prstDash val="solid"/>
          </a:ln>
        </p:spPr>
      </p:sp>
      <p:sp>
        <p:nvSpPr>
          <p:cNvPr id="8" name="space-axis">
            <a:extLst xmlns:a="http://schemas.openxmlformats.org/drawingml/2006/main">
              <a:ext uri="{FF2B5EF4-FFF2-40B4-BE49-F238E27FC236}">
                <a16:creationId xmlns:a16="http://schemas.microsoft.com/office/drawing/2014/main" id="{3E048AE0-A335-4716-9E22-1B6AB8704BC9}"/>
              </a:ext>
            </a:extLst>
          </p:cNvPr>
          <p:cNvSpPr>
            <a:spLocks xmlns:a="http://schemas.openxmlformats.org/drawingml/2006/main" noGrp="1"/>
          </p:cNvSpPr>
          <p:nvPr/>
        </p:nvSpPr>
        <p:spPr>
          <a:xfrm xmlns:a="http://schemas.openxmlformats.org/drawingml/2006/main">
            <a:off x="838200" y="2654269"/>
            <a:ext cx="953" cy="2660681"/>
          </a:xfrm>
          <a:custGeom xmlns:a="http://schemas.openxmlformats.org/drawingml/2006/main">
            <a:pathLst>
              <a:path w="953" h="2660681">
                <a:moveTo>
                  <a:pt x="0" y="2660681"/>
                </a:moveTo>
                <a:lnTo>
                  <a:pt x="0" y="0"/>
                </a:lnTo>
              </a:path>
            </a:pathLst>
          </a:custGeom>
          <a:noFill xmlns:a="http://schemas.openxmlformats.org/drawingml/2006/main"/>
          <a:ln xmlns:a="http://schemas.openxmlformats.org/drawingml/2006/main" w="14288">
            <a:solidFill>
              <a:srgbClr val="172E44"/>
            </a:solidFill>
            <a:prstDash val="solid"/>
          </a:ln>
        </p:spPr>
      </p:sp>
      <p:sp>
        <p:nvSpPr>
          <p:cNvPr id="9" name="space-axis-arrow">
            <a:extLst xmlns:a="http://schemas.openxmlformats.org/drawingml/2006/main">
              <a:ext uri="{FF2B5EF4-FFF2-40B4-BE49-F238E27FC236}">
                <a16:creationId xmlns:a16="http://schemas.microsoft.com/office/drawing/2014/main" id="{770E5551-AE8F-4CCC-80CA-25C937747C9B}"/>
              </a:ext>
            </a:extLst>
          </p:cNvPr>
          <p:cNvSpPr>
            <a:spLocks xmlns:a="http://schemas.openxmlformats.org/drawingml/2006/main" noGrp="1"/>
          </p:cNvSpPr>
          <p:nvPr/>
        </p:nvSpPr>
        <p:spPr>
          <a:xfrm xmlns:a="http://schemas.openxmlformats.org/drawingml/2006/main">
            <a:off x="800100" y="2654269"/>
            <a:ext cx="76200" cy="76200"/>
          </a:xfrm>
          <a:custGeom xmlns:a="http://schemas.openxmlformats.org/drawingml/2006/main">
            <a:pathLst>
              <a:path w="76200" h="76200">
                <a:moveTo>
                  <a:pt x="38100" y="0"/>
                </a:moveTo>
                <a:lnTo>
                  <a:pt x="0" y="76200"/>
                </a:lnTo>
                <a:lnTo>
                  <a:pt x="76200" y="76200"/>
                </a:lnTo>
                <a:close/>
              </a:path>
            </a:pathLst>
          </a:custGeom>
          <a:solidFill xmlns:a="http://schemas.openxmlformats.org/drawingml/2006/main">
            <a:srgbClr val="172E44"/>
          </a:solidFill>
          <a:ln xmlns:a="http://schemas.openxmlformats.org/drawingml/2006/main" w="5715">
            <a:solidFill>
              <a:srgbClr val="172E44"/>
            </a:solidFill>
            <a:prstDash val="solid"/>
          </a:ln>
        </p:spPr>
      </p:sp>
      <p:sp>
        <p:nvSpPr>
          <p:cNvPr id="10" name="parent-rental-demand">
            <a:extLst xmlns:a="http://schemas.openxmlformats.org/drawingml/2006/main">
              <a:ext uri="{FF2B5EF4-FFF2-40B4-BE49-F238E27FC236}">
                <a16:creationId xmlns:a16="http://schemas.microsoft.com/office/drawing/2014/main" id="{173FFBEE-DBD5-4A1B-8665-531C2F35426C}"/>
              </a:ext>
            </a:extLst>
          </p:cNvPr>
          <p:cNvSpPr>
            <a:spLocks xmlns:a="http://schemas.openxmlformats.org/drawingml/2006/main" noGrp="1"/>
          </p:cNvSpPr>
          <p:nvPr/>
        </p:nvSpPr>
        <p:spPr>
          <a:xfrm xmlns:a="http://schemas.openxmlformats.org/drawingml/2006/main">
            <a:off x="1270205" y="2911625"/>
            <a:ext cx="4081309" cy="1737024"/>
          </a:xfrm>
          <a:custGeom xmlns:a="http://schemas.openxmlformats.org/drawingml/2006/main">
            <a:pathLst>
              <a:path w="4081309" h="1737024">
                <a:moveTo>
                  <a:pt x="0" y="1737024"/>
                </a:moveTo>
                <a:lnTo>
                  <a:pt x="4081309" y="0"/>
                </a:lnTo>
              </a:path>
            </a:pathLst>
          </a:custGeom>
          <a:noFill xmlns:a="http://schemas.openxmlformats.org/drawingml/2006/main"/>
          <a:ln xmlns:a="http://schemas.openxmlformats.org/drawingml/2006/main" w="30480">
            <a:solidFill>
              <a:srgbClr val="087E8B"/>
            </a:solidFill>
            <a:prstDash val="solid"/>
          </a:ln>
        </p:spPr>
      </p:sp>
      <p:sp>
        <p:nvSpPr>
          <p:cNvPr id="11" name="childless-rental-demand">
            <a:extLst xmlns:a="http://schemas.openxmlformats.org/drawingml/2006/main">
              <a:ext uri="{FF2B5EF4-FFF2-40B4-BE49-F238E27FC236}">
                <a16:creationId xmlns:a16="http://schemas.microsoft.com/office/drawing/2014/main" id="{C19CE997-BC15-4AC1-9734-8A98D161A7EF}"/>
              </a:ext>
            </a:extLst>
          </p:cNvPr>
          <p:cNvSpPr>
            <a:spLocks xmlns:a="http://schemas.openxmlformats.org/drawingml/2006/main" noGrp="1"/>
          </p:cNvSpPr>
          <p:nvPr/>
        </p:nvSpPr>
        <p:spPr>
          <a:xfrm xmlns:a="http://schemas.openxmlformats.org/drawingml/2006/main">
            <a:off x="1270205" y="3161814"/>
            <a:ext cx="4626999" cy="1969272"/>
          </a:xfrm>
          <a:custGeom xmlns:a="http://schemas.openxmlformats.org/drawingml/2006/main">
            <a:pathLst>
              <a:path w="4626999" h="1969272">
                <a:moveTo>
                  <a:pt x="0" y="1969272"/>
                </a:moveTo>
                <a:lnTo>
                  <a:pt x="4626999" y="0"/>
                </a:lnTo>
              </a:path>
            </a:pathLst>
          </a:custGeom>
          <a:noFill xmlns:a="http://schemas.openxmlformats.org/drawingml/2006/main"/>
          <a:ln xmlns:a="http://schemas.openxmlformats.org/drawingml/2006/main" w="26670">
            <a:solidFill>
              <a:srgbClr val="53687D"/>
            </a:solidFill>
            <a:prstDash val="solid"/>
          </a:ln>
        </p:spPr>
      </p:sp>
      <p:sp>
        <p:nvSpPr>
          <p:cNvPr id="12" name="rental-cap">
            <a:extLst xmlns:a="http://schemas.openxmlformats.org/drawingml/2006/main">
              <a:ext uri="{FF2B5EF4-FFF2-40B4-BE49-F238E27FC236}">
                <a16:creationId xmlns:a16="http://schemas.microsoft.com/office/drawing/2014/main" id="{A94C7989-DE50-4477-8D2E-8FB63A8745BF}"/>
              </a:ext>
            </a:extLst>
          </p:cNvPr>
          <p:cNvSpPr>
            <a:spLocks xmlns:a="http://schemas.openxmlformats.org/drawingml/2006/main" noGrp="1"/>
          </p:cNvSpPr>
          <p:nvPr/>
        </p:nvSpPr>
        <p:spPr>
          <a:xfrm xmlns:a="http://schemas.openxmlformats.org/drawingml/2006/main">
            <a:off x="838200" y="3787287"/>
            <a:ext cx="5081741" cy="953"/>
          </a:xfrm>
          <a:custGeom xmlns:a="http://schemas.openxmlformats.org/drawingml/2006/main">
            <a:pathLst>
              <a:path w="5081741" h="953">
                <a:moveTo>
                  <a:pt x="0" y="0"/>
                </a:moveTo>
                <a:lnTo>
                  <a:pt x="5081741" y="0"/>
                </a:lnTo>
              </a:path>
            </a:pathLst>
          </a:custGeom>
          <a:noFill xmlns:a="http://schemas.openxmlformats.org/drawingml/2006/main"/>
          <a:ln xmlns:a="http://schemas.openxmlformats.org/drawingml/2006/main" w="26670">
            <a:solidFill>
              <a:srgbClr val="B45A3C"/>
            </a:solidFill>
            <a:prstDash val="solid"/>
          </a:ln>
        </p:spPr>
      </p:sp>
      <p:sp>
        <p:nvSpPr>
          <p:cNvPr id="13" name="parent-threshold-0">
            <a:extLst xmlns:a="http://schemas.openxmlformats.org/drawingml/2006/main">
              <a:ext uri="{FF2B5EF4-FFF2-40B4-BE49-F238E27FC236}">
                <a16:creationId xmlns:a16="http://schemas.microsoft.com/office/drawing/2014/main" id="{C75663DE-28B7-4850-B1D2-65371C4E748E}"/>
              </a:ext>
            </a:extLst>
          </p:cNvPr>
          <p:cNvSpPr>
            <a:spLocks xmlns:a="http://schemas.openxmlformats.org/drawingml/2006/main" noGrp="1"/>
          </p:cNvSpPr>
          <p:nvPr/>
        </p:nvSpPr>
        <p:spPr>
          <a:xfrm xmlns:a="http://schemas.openxmlformats.org/drawingml/2006/main">
            <a:off x="3294061" y="5254935"/>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14" name="parent-threshold-1">
            <a:extLst xmlns:a="http://schemas.openxmlformats.org/drawingml/2006/main">
              <a:ext uri="{FF2B5EF4-FFF2-40B4-BE49-F238E27FC236}">
                <a16:creationId xmlns:a16="http://schemas.microsoft.com/office/drawing/2014/main" id="{728C3283-B87B-4932-9832-B68874BE8588}"/>
              </a:ext>
            </a:extLst>
          </p:cNvPr>
          <p:cNvSpPr>
            <a:spLocks xmlns:a="http://schemas.openxmlformats.org/drawingml/2006/main" noGrp="1"/>
          </p:cNvSpPr>
          <p:nvPr/>
        </p:nvSpPr>
        <p:spPr>
          <a:xfrm xmlns:a="http://schemas.openxmlformats.org/drawingml/2006/main">
            <a:off x="3294061" y="5145816"/>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15" name="parent-threshold-2">
            <a:extLst xmlns:a="http://schemas.openxmlformats.org/drawingml/2006/main">
              <a:ext uri="{FF2B5EF4-FFF2-40B4-BE49-F238E27FC236}">
                <a16:creationId xmlns:a16="http://schemas.microsoft.com/office/drawing/2014/main" id="{3BB63829-5909-4482-8E83-2E68E0B3807B}"/>
              </a:ext>
            </a:extLst>
          </p:cNvPr>
          <p:cNvSpPr>
            <a:spLocks xmlns:a="http://schemas.openxmlformats.org/drawingml/2006/main" noGrp="1"/>
          </p:cNvSpPr>
          <p:nvPr/>
        </p:nvSpPr>
        <p:spPr>
          <a:xfrm xmlns:a="http://schemas.openxmlformats.org/drawingml/2006/main">
            <a:off x="3294061" y="5036697"/>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16" name="parent-threshold-3">
            <a:extLst xmlns:a="http://schemas.openxmlformats.org/drawingml/2006/main">
              <a:ext uri="{FF2B5EF4-FFF2-40B4-BE49-F238E27FC236}">
                <a16:creationId xmlns:a16="http://schemas.microsoft.com/office/drawing/2014/main" id="{66BD2E65-1AB4-46F7-B3C7-7CD60FE60186}"/>
              </a:ext>
            </a:extLst>
          </p:cNvPr>
          <p:cNvSpPr>
            <a:spLocks xmlns:a="http://schemas.openxmlformats.org/drawingml/2006/main" noGrp="1"/>
          </p:cNvSpPr>
          <p:nvPr/>
        </p:nvSpPr>
        <p:spPr>
          <a:xfrm xmlns:a="http://schemas.openxmlformats.org/drawingml/2006/main">
            <a:off x="3294061" y="4927578"/>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17" name="parent-threshold-4">
            <a:extLst xmlns:a="http://schemas.openxmlformats.org/drawingml/2006/main">
              <a:ext uri="{FF2B5EF4-FFF2-40B4-BE49-F238E27FC236}">
                <a16:creationId xmlns:a16="http://schemas.microsoft.com/office/drawing/2014/main" id="{FEFCCAA0-6871-410F-8B0F-4B9AD970E7B8}"/>
              </a:ext>
            </a:extLst>
          </p:cNvPr>
          <p:cNvSpPr>
            <a:spLocks xmlns:a="http://schemas.openxmlformats.org/drawingml/2006/main" noGrp="1"/>
          </p:cNvSpPr>
          <p:nvPr/>
        </p:nvSpPr>
        <p:spPr>
          <a:xfrm xmlns:a="http://schemas.openxmlformats.org/drawingml/2006/main">
            <a:off x="3294061" y="4818459"/>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18" name="parent-threshold-5">
            <a:extLst xmlns:a="http://schemas.openxmlformats.org/drawingml/2006/main">
              <a:ext uri="{FF2B5EF4-FFF2-40B4-BE49-F238E27FC236}">
                <a16:creationId xmlns:a16="http://schemas.microsoft.com/office/drawing/2014/main" id="{C4C3AF2F-0CA9-420A-8DE3-BB5AC7A3D3EE}"/>
              </a:ext>
            </a:extLst>
          </p:cNvPr>
          <p:cNvSpPr>
            <a:spLocks xmlns:a="http://schemas.openxmlformats.org/drawingml/2006/main" noGrp="1"/>
          </p:cNvSpPr>
          <p:nvPr/>
        </p:nvSpPr>
        <p:spPr>
          <a:xfrm xmlns:a="http://schemas.openxmlformats.org/drawingml/2006/main">
            <a:off x="3294061" y="4709341"/>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19" name="parent-threshold-6">
            <a:extLst xmlns:a="http://schemas.openxmlformats.org/drawingml/2006/main">
              <a:ext uri="{FF2B5EF4-FFF2-40B4-BE49-F238E27FC236}">
                <a16:creationId xmlns:a16="http://schemas.microsoft.com/office/drawing/2014/main" id="{B2FB9252-B8C3-45FF-8845-01A0E74F6D0F}"/>
              </a:ext>
            </a:extLst>
          </p:cNvPr>
          <p:cNvSpPr>
            <a:spLocks xmlns:a="http://schemas.openxmlformats.org/drawingml/2006/main" noGrp="1"/>
          </p:cNvSpPr>
          <p:nvPr/>
        </p:nvSpPr>
        <p:spPr>
          <a:xfrm xmlns:a="http://schemas.openxmlformats.org/drawingml/2006/main">
            <a:off x="3294061" y="4600222"/>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20" name="parent-threshold-7">
            <a:extLst xmlns:a="http://schemas.openxmlformats.org/drawingml/2006/main">
              <a:ext uri="{FF2B5EF4-FFF2-40B4-BE49-F238E27FC236}">
                <a16:creationId xmlns:a16="http://schemas.microsoft.com/office/drawing/2014/main" id="{558571D1-0105-4065-BBB4-1F89E45FEFCF}"/>
              </a:ext>
            </a:extLst>
          </p:cNvPr>
          <p:cNvSpPr>
            <a:spLocks xmlns:a="http://schemas.openxmlformats.org/drawingml/2006/main" noGrp="1"/>
          </p:cNvSpPr>
          <p:nvPr/>
        </p:nvSpPr>
        <p:spPr>
          <a:xfrm xmlns:a="http://schemas.openxmlformats.org/drawingml/2006/main">
            <a:off x="3294061" y="4491103"/>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21" name="parent-threshold-8">
            <a:extLst xmlns:a="http://schemas.openxmlformats.org/drawingml/2006/main">
              <a:ext uri="{FF2B5EF4-FFF2-40B4-BE49-F238E27FC236}">
                <a16:creationId xmlns:a16="http://schemas.microsoft.com/office/drawing/2014/main" id="{A85845A4-48E9-4F4E-B911-5489475E7CFF}"/>
              </a:ext>
            </a:extLst>
          </p:cNvPr>
          <p:cNvSpPr>
            <a:spLocks xmlns:a="http://schemas.openxmlformats.org/drawingml/2006/main" noGrp="1"/>
          </p:cNvSpPr>
          <p:nvPr/>
        </p:nvSpPr>
        <p:spPr>
          <a:xfrm xmlns:a="http://schemas.openxmlformats.org/drawingml/2006/main">
            <a:off x="3294061" y="4381984"/>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22" name="parent-threshold-9">
            <a:extLst xmlns:a="http://schemas.openxmlformats.org/drawingml/2006/main">
              <a:ext uri="{FF2B5EF4-FFF2-40B4-BE49-F238E27FC236}">
                <a16:creationId xmlns:a16="http://schemas.microsoft.com/office/drawing/2014/main" id="{A998030A-694D-4E5C-8B25-A0680DFEB2B3}"/>
              </a:ext>
            </a:extLst>
          </p:cNvPr>
          <p:cNvSpPr>
            <a:spLocks xmlns:a="http://schemas.openxmlformats.org/drawingml/2006/main" noGrp="1"/>
          </p:cNvSpPr>
          <p:nvPr/>
        </p:nvSpPr>
        <p:spPr>
          <a:xfrm xmlns:a="http://schemas.openxmlformats.org/drawingml/2006/main">
            <a:off x="3294061" y="4272865"/>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23" name="parent-threshold-10">
            <a:extLst xmlns:a="http://schemas.openxmlformats.org/drawingml/2006/main">
              <a:ext uri="{FF2B5EF4-FFF2-40B4-BE49-F238E27FC236}">
                <a16:creationId xmlns:a16="http://schemas.microsoft.com/office/drawing/2014/main" id="{0CA3BAF7-9EAE-424C-80AC-9C97763F785D}"/>
              </a:ext>
            </a:extLst>
          </p:cNvPr>
          <p:cNvSpPr>
            <a:spLocks xmlns:a="http://schemas.openxmlformats.org/drawingml/2006/main" noGrp="1"/>
          </p:cNvSpPr>
          <p:nvPr/>
        </p:nvSpPr>
        <p:spPr>
          <a:xfrm xmlns:a="http://schemas.openxmlformats.org/drawingml/2006/main">
            <a:off x="3294061" y="4163746"/>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24" name="parent-threshold-11">
            <a:extLst xmlns:a="http://schemas.openxmlformats.org/drawingml/2006/main">
              <a:ext uri="{FF2B5EF4-FFF2-40B4-BE49-F238E27FC236}">
                <a16:creationId xmlns:a16="http://schemas.microsoft.com/office/drawing/2014/main" id="{C8B5BC34-F45B-4111-8D0A-A691ABFA45B2}"/>
              </a:ext>
            </a:extLst>
          </p:cNvPr>
          <p:cNvSpPr>
            <a:spLocks xmlns:a="http://schemas.openxmlformats.org/drawingml/2006/main" noGrp="1"/>
          </p:cNvSpPr>
          <p:nvPr/>
        </p:nvSpPr>
        <p:spPr>
          <a:xfrm xmlns:a="http://schemas.openxmlformats.org/drawingml/2006/main">
            <a:off x="3294061" y="4054628"/>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25" name="parent-threshold-12">
            <a:extLst xmlns:a="http://schemas.openxmlformats.org/drawingml/2006/main">
              <a:ext uri="{FF2B5EF4-FFF2-40B4-BE49-F238E27FC236}">
                <a16:creationId xmlns:a16="http://schemas.microsoft.com/office/drawing/2014/main" id="{1C8001FC-6BAF-41DD-A140-708DA24838B2}"/>
              </a:ext>
            </a:extLst>
          </p:cNvPr>
          <p:cNvSpPr>
            <a:spLocks xmlns:a="http://schemas.openxmlformats.org/drawingml/2006/main" noGrp="1"/>
          </p:cNvSpPr>
          <p:nvPr/>
        </p:nvSpPr>
        <p:spPr>
          <a:xfrm xmlns:a="http://schemas.openxmlformats.org/drawingml/2006/main">
            <a:off x="3294061" y="3945509"/>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26" name="parent-threshold-13">
            <a:extLst xmlns:a="http://schemas.openxmlformats.org/drawingml/2006/main">
              <a:ext uri="{FF2B5EF4-FFF2-40B4-BE49-F238E27FC236}">
                <a16:creationId xmlns:a16="http://schemas.microsoft.com/office/drawing/2014/main" id="{2655AE71-8C1F-4C07-AB65-FC0C2C9E2EB9}"/>
              </a:ext>
            </a:extLst>
          </p:cNvPr>
          <p:cNvSpPr>
            <a:spLocks xmlns:a="http://schemas.openxmlformats.org/drawingml/2006/main" noGrp="1"/>
          </p:cNvSpPr>
          <p:nvPr/>
        </p:nvSpPr>
        <p:spPr>
          <a:xfrm xmlns:a="http://schemas.openxmlformats.org/drawingml/2006/main">
            <a:off x="3294061" y="3836390"/>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27" name="childless-threshold-0">
            <a:extLst xmlns:a="http://schemas.openxmlformats.org/drawingml/2006/main">
              <a:ext uri="{FF2B5EF4-FFF2-40B4-BE49-F238E27FC236}">
                <a16:creationId xmlns:a16="http://schemas.microsoft.com/office/drawing/2014/main" id="{F363ED60-00FA-4A79-9204-76540B6CE644}"/>
              </a:ext>
            </a:extLst>
          </p:cNvPr>
          <p:cNvSpPr>
            <a:spLocks xmlns:a="http://schemas.openxmlformats.org/drawingml/2006/main" noGrp="1"/>
          </p:cNvSpPr>
          <p:nvPr/>
        </p:nvSpPr>
        <p:spPr>
          <a:xfrm xmlns:a="http://schemas.openxmlformats.org/drawingml/2006/main">
            <a:off x="4427596" y="5254935"/>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28" name="childless-threshold-1">
            <a:extLst xmlns:a="http://schemas.openxmlformats.org/drawingml/2006/main">
              <a:ext uri="{FF2B5EF4-FFF2-40B4-BE49-F238E27FC236}">
                <a16:creationId xmlns:a16="http://schemas.microsoft.com/office/drawing/2014/main" id="{E2E29AC0-49BF-4E7A-AF90-9598BD6C4C41}"/>
              </a:ext>
            </a:extLst>
          </p:cNvPr>
          <p:cNvSpPr>
            <a:spLocks xmlns:a="http://schemas.openxmlformats.org/drawingml/2006/main" noGrp="1"/>
          </p:cNvSpPr>
          <p:nvPr/>
        </p:nvSpPr>
        <p:spPr>
          <a:xfrm xmlns:a="http://schemas.openxmlformats.org/drawingml/2006/main">
            <a:off x="4427596" y="5145816"/>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29" name="childless-threshold-2">
            <a:extLst xmlns:a="http://schemas.openxmlformats.org/drawingml/2006/main">
              <a:ext uri="{FF2B5EF4-FFF2-40B4-BE49-F238E27FC236}">
                <a16:creationId xmlns:a16="http://schemas.microsoft.com/office/drawing/2014/main" id="{94701C9B-46DF-4906-B333-61D04E880012}"/>
              </a:ext>
            </a:extLst>
          </p:cNvPr>
          <p:cNvSpPr>
            <a:spLocks xmlns:a="http://schemas.openxmlformats.org/drawingml/2006/main" noGrp="1"/>
          </p:cNvSpPr>
          <p:nvPr/>
        </p:nvSpPr>
        <p:spPr>
          <a:xfrm xmlns:a="http://schemas.openxmlformats.org/drawingml/2006/main">
            <a:off x="4427596" y="5036697"/>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30" name="childless-threshold-3">
            <a:extLst xmlns:a="http://schemas.openxmlformats.org/drawingml/2006/main">
              <a:ext uri="{FF2B5EF4-FFF2-40B4-BE49-F238E27FC236}">
                <a16:creationId xmlns:a16="http://schemas.microsoft.com/office/drawing/2014/main" id="{4025A744-5943-424A-A8C7-ECC526AFF83B}"/>
              </a:ext>
            </a:extLst>
          </p:cNvPr>
          <p:cNvSpPr>
            <a:spLocks xmlns:a="http://schemas.openxmlformats.org/drawingml/2006/main" noGrp="1"/>
          </p:cNvSpPr>
          <p:nvPr/>
        </p:nvSpPr>
        <p:spPr>
          <a:xfrm xmlns:a="http://schemas.openxmlformats.org/drawingml/2006/main">
            <a:off x="4427596" y="4927578"/>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31" name="childless-threshold-4">
            <a:extLst xmlns:a="http://schemas.openxmlformats.org/drawingml/2006/main">
              <a:ext uri="{FF2B5EF4-FFF2-40B4-BE49-F238E27FC236}">
                <a16:creationId xmlns:a16="http://schemas.microsoft.com/office/drawing/2014/main" id="{20EEC1D9-8ECD-4999-ACD5-9A6D4B554C61}"/>
              </a:ext>
            </a:extLst>
          </p:cNvPr>
          <p:cNvSpPr>
            <a:spLocks xmlns:a="http://schemas.openxmlformats.org/drawingml/2006/main" noGrp="1"/>
          </p:cNvSpPr>
          <p:nvPr/>
        </p:nvSpPr>
        <p:spPr>
          <a:xfrm xmlns:a="http://schemas.openxmlformats.org/drawingml/2006/main">
            <a:off x="4427596" y="4818459"/>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32" name="childless-threshold-5">
            <a:extLst xmlns:a="http://schemas.openxmlformats.org/drawingml/2006/main">
              <a:ext uri="{FF2B5EF4-FFF2-40B4-BE49-F238E27FC236}">
                <a16:creationId xmlns:a16="http://schemas.microsoft.com/office/drawing/2014/main" id="{6AEBC7A6-33A1-41F7-B942-E5ED221D8871}"/>
              </a:ext>
            </a:extLst>
          </p:cNvPr>
          <p:cNvSpPr>
            <a:spLocks xmlns:a="http://schemas.openxmlformats.org/drawingml/2006/main" noGrp="1"/>
          </p:cNvSpPr>
          <p:nvPr/>
        </p:nvSpPr>
        <p:spPr>
          <a:xfrm xmlns:a="http://schemas.openxmlformats.org/drawingml/2006/main">
            <a:off x="4427596" y="4709341"/>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33" name="childless-threshold-6">
            <a:extLst xmlns:a="http://schemas.openxmlformats.org/drawingml/2006/main">
              <a:ext uri="{FF2B5EF4-FFF2-40B4-BE49-F238E27FC236}">
                <a16:creationId xmlns:a16="http://schemas.microsoft.com/office/drawing/2014/main" id="{BB5962A9-BF2D-4026-96BD-ACAA9AE3EC94}"/>
              </a:ext>
            </a:extLst>
          </p:cNvPr>
          <p:cNvSpPr>
            <a:spLocks xmlns:a="http://schemas.openxmlformats.org/drawingml/2006/main" noGrp="1"/>
          </p:cNvSpPr>
          <p:nvPr/>
        </p:nvSpPr>
        <p:spPr>
          <a:xfrm xmlns:a="http://schemas.openxmlformats.org/drawingml/2006/main">
            <a:off x="4427596" y="4600222"/>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34" name="childless-threshold-7">
            <a:extLst xmlns:a="http://schemas.openxmlformats.org/drawingml/2006/main">
              <a:ext uri="{FF2B5EF4-FFF2-40B4-BE49-F238E27FC236}">
                <a16:creationId xmlns:a16="http://schemas.microsoft.com/office/drawing/2014/main" id="{B74436FA-9A4D-476D-B64B-5C4068BC774A}"/>
              </a:ext>
            </a:extLst>
          </p:cNvPr>
          <p:cNvSpPr>
            <a:spLocks xmlns:a="http://schemas.openxmlformats.org/drawingml/2006/main" noGrp="1"/>
          </p:cNvSpPr>
          <p:nvPr/>
        </p:nvSpPr>
        <p:spPr>
          <a:xfrm xmlns:a="http://schemas.openxmlformats.org/drawingml/2006/main">
            <a:off x="4427596" y="4491103"/>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35" name="childless-threshold-8">
            <a:extLst xmlns:a="http://schemas.openxmlformats.org/drawingml/2006/main">
              <a:ext uri="{FF2B5EF4-FFF2-40B4-BE49-F238E27FC236}">
                <a16:creationId xmlns:a16="http://schemas.microsoft.com/office/drawing/2014/main" id="{68F19ADF-B9B2-4132-AC81-25A24FDF22E0}"/>
              </a:ext>
            </a:extLst>
          </p:cNvPr>
          <p:cNvSpPr>
            <a:spLocks xmlns:a="http://schemas.openxmlformats.org/drawingml/2006/main" noGrp="1"/>
          </p:cNvSpPr>
          <p:nvPr/>
        </p:nvSpPr>
        <p:spPr>
          <a:xfrm xmlns:a="http://schemas.openxmlformats.org/drawingml/2006/main">
            <a:off x="4427596" y="4381984"/>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36" name="childless-threshold-9">
            <a:extLst xmlns:a="http://schemas.openxmlformats.org/drawingml/2006/main">
              <a:ext uri="{FF2B5EF4-FFF2-40B4-BE49-F238E27FC236}">
                <a16:creationId xmlns:a16="http://schemas.microsoft.com/office/drawing/2014/main" id="{A944137F-E54D-4F7C-88E9-4F5FF5221B48}"/>
              </a:ext>
            </a:extLst>
          </p:cNvPr>
          <p:cNvSpPr>
            <a:spLocks xmlns:a="http://schemas.openxmlformats.org/drawingml/2006/main" noGrp="1"/>
          </p:cNvSpPr>
          <p:nvPr/>
        </p:nvSpPr>
        <p:spPr>
          <a:xfrm xmlns:a="http://schemas.openxmlformats.org/drawingml/2006/main">
            <a:off x="4427596" y="4272865"/>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37" name="childless-threshold-10">
            <a:extLst xmlns:a="http://schemas.openxmlformats.org/drawingml/2006/main">
              <a:ext uri="{FF2B5EF4-FFF2-40B4-BE49-F238E27FC236}">
                <a16:creationId xmlns:a16="http://schemas.microsoft.com/office/drawing/2014/main" id="{5355CFAC-03BA-4548-B619-D71DE53B7A75}"/>
              </a:ext>
            </a:extLst>
          </p:cNvPr>
          <p:cNvSpPr>
            <a:spLocks xmlns:a="http://schemas.openxmlformats.org/drawingml/2006/main" noGrp="1"/>
          </p:cNvSpPr>
          <p:nvPr/>
        </p:nvSpPr>
        <p:spPr>
          <a:xfrm xmlns:a="http://schemas.openxmlformats.org/drawingml/2006/main">
            <a:off x="4427596" y="4163746"/>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38" name="childless-threshold-11">
            <a:extLst xmlns:a="http://schemas.openxmlformats.org/drawingml/2006/main">
              <a:ext uri="{FF2B5EF4-FFF2-40B4-BE49-F238E27FC236}">
                <a16:creationId xmlns:a16="http://schemas.microsoft.com/office/drawing/2014/main" id="{44675A32-1D16-46A7-B295-E685AE5DD543}"/>
              </a:ext>
            </a:extLst>
          </p:cNvPr>
          <p:cNvSpPr>
            <a:spLocks xmlns:a="http://schemas.openxmlformats.org/drawingml/2006/main" noGrp="1"/>
          </p:cNvSpPr>
          <p:nvPr/>
        </p:nvSpPr>
        <p:spPr>
          <a:xfrm xmlns:a="http://schemas.openxmlformats.org/drawingml/2006/main">
            <a:off x="4427596" y="4054628"/>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39" name="childless-threshold-12">
            <a:extLst xmlns:a="http://schemas.openxmlformats.org/drawingml/2006/main">
              <a:ext uri="{FF2B5EF4-FFF2-40B4-BE49-F238E27FC236}">
                <a16:creationId xmlns:a16="http://schemas.microsoft.com/office/drawing/2014/main" id="{2C0D8EC9-19F7-45C4-AB1E-3D3000D57526}"/>
              </a:ext>
            </a:extLst>
          </p:cNvPr>
          <p:cNvSpPr>
            <a:spLocks xmlns:a="http://schemas.openxmlformats.org/drawingml/2006/main" noGrp="1"/>
          </p:cNvSpPr>
          <p:nvPr/>
        </p:nvSpPr>
        <p:spPr>
          <a:xfrm xmlns:a="http://schemas.openxmlformats.org/drawingml/2006/main">
            <a:off x="4427596" y="3945509"/>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40" name="childless-threshold-13">
            <a:extLst xmlns:a="http://schemas.openxmlformats.org/drawingml/2006/main">
              <a:ext uri="{FF2B5EF4-FFF2-40B4-BE49-F238E27FC236}">
                <a16:creationId xmlns:a16="http://schemas.microsoft.com/office/drawing/2014/main" id="{58C228F9-AA85-4BDC-8441-D175F20D6104}"/>
              </a:ext>
            </a:extLst>
          </p:cNvPr>
          <p:cNvSpPr>
            <a:spLocks xmlns:a="http://schemas.openxmlformats.org/drawingml/2006/main" noGrp="1"/>
          </p:cNvSpPr>
          <p:nvPr/>
        </p:nvSpPr>
        <p:spPr>
          <a:xfrm xmlns:a="http://schemas.openxmlformats.org/drawingml/2006/main">
            <a:off x="4427596" y="3836390"/>
            <a:ext cx="953" cy="60015"/>
          </a:xfrm>
          <a:custGeom xmlns:a="http://schemas.openxmlformats.org/drawingml/2006/main">
            <a:pathLst>
              <a:path w="953" h="60015">
                <a:moveTo>
                  <a:pt x="0" y="60015"/>
                </a:moveTo>
                <a:lnTo>
                  <a:pt x="0" y="0"/>
                </a:lnTo>
              </a:path>
            </a:pathLst>
          </a:custGeom>
          <a:noFill xmlns:a="http://schemas.openxmlformats.org/drawingml/2006/main"/>
          <a:ln xmlns:a="http://schemas.openxmlformats.org/drawingml/2006/main" w="13335">
            <a:solidFill>
              <a:srgbClr val="667481"/>
            </a:solidFill>
            <a:prstDash val="solid"/>
          </a:ln>
        </p:spPr>
      </p:sp>
      <p:sp>
        <p:nvSpPr>
          <p:cNvPr id="41" name="parent-cap-contact">
            <a:extLst xmlns:a="http://schemas.openxmlformats.org/drawingml/2006/main">
              <a:ext uri="{FF2B5EF4-FFF2-40B4-BE49-F238E27FC236}">
                <a16:creationId xmlns:a16="http://schemas.microsoft.com/office/drawing/2014/main" id="{F22EF691-FF7B-41B7-B5DC-51E497473FD8}"/>
              </a:ext>
            </a:extLst>
          </p:cNvPr>
          <p:cNvSpPr>
            <a:spLocks xmlns:a="http://schemas.openxmlformats.org/drawingml/2006/main" noGrp="1"/>
          </p:cNvSpPr>
          <p:nvPr/>
        </p:nvSpPr>
        <p:spPr>
          <a:xfrm xmlns:a="http://schemas.openxmlformats.org/drawingml/2006/main">
            <a:off x="3246436" y="3739662"/>
            <a:ext cx="95250" cy="95250"/>
          </a:xfrm>
          <a:prstGeom xmlns:a="http://schemas.openxmlformats.org/drawingml/2006/main" prst="ellipse">
            <a:avLst/>
          </a:prstGeom>
          <a:solidFill xmlns:a="http://schemas.openxmlformats.org/drawingml/2006/main">
            <a:srgbClr val="087E8B"/>
          </a:solidFill>
          <a:ln xmlns:a="http://schemas.openxmlformats.org/drawingml/2006/main" w="0">
            <a:solidFill>
              <a:srgbClr val="087E8B"/>
            </a:solidFill>
          </a:ln>
        </p:spPr>
      </p:sp>
      <p:sp>
        <p:nvSpPr>
          <p:cNvPr id="42" name="childless-cap-contact">
            <a:extLst xmlns:a="http://schemas.openxmlformats.org/drawingml/2006/main">
              <a:ext uri="{FF2B5EF4-FFF2-40B4-BE49-F238E27FC236}">
                <a16:creationId xmlns:a16="http://schemas.microsoft.com/office/drawing/2014/main" id="{D2ADAD56-D73A-4EDB-A074-D361CF129B2E}"/>
              </a:ext>
            </a:extLst>
          </p:cNvPr>
          <p:cNvSpPr>
            <a:spLocks xmlns:a="http://schemas.openxmlformats.org/drawingml/2006/main" noGrp="1"/>
          </p:cNvSpPr>
          <p:nvPr/>
        </p:nvSpPr>
        <p:spPr>
          <a:xfrm xmlns:a="http://schemas.openxmlformats.org/drawingml/2006/main">
            <a:off x="4379971" y="3739662"/>
            <a:ext cx="95250" cy="95250"/>
          </a:xfrm>
          <a:prstGeom xmlns:a="http://schemas.openxmlformats.org/drawingml/2006/main" prst="ellipse">
            <a:avLst/>
          </a:prstGeom>
          <a:solidFill xmlns:a="http://schemas.openxmlformats.org/drawingml/2006/main">
            <a:srgbClr val="53687D"/>
          </a:solidFill>
          <a:ln xmlns:a="http://schemas.openxmlformats.org/drawingml/2006/main" w="0">
            <a:solidFill>
              <a:srgbClr val="53687D"/>
            </a:solidFill>
          </a:ln>
        </p:spPr>
      </p:sp>
      <p:sp>
        <p:nvSpPr>
          <p:cNvPr id="43" name="y-label">
            <a:extLst xmlns:a="http://schemas.openxmlformats.org/drawingml/2006/main">
              <a:ext uri="{FF2B5EF4-FFF2-40B4-BE49-F238E27FC236}">
                <a16:creationId xmlns:a16="http://schemas.microsoft.com/office/drawing/2014/main" id="{44D5DDB0-A765-4310-B38C-AC9BE992C1B6}"/>
              </a:ext>
            </a:extLst>
          </p:cNvPr>
          <p:cNvSpPr>
            <a:spLocks xmlns:a="http://schemas.openxmlformats.org/drawingml/2006/main" noGrp="1"/>
          </p:cNvSpPr>
          <p:nvPr/>
        </p:nvSpPr>
        <p:spPr>
          <a:xfrm xmlns:a="http://schemas.openxmlformats.org/drawingml/2006/main">
            <a:off x="838200" y="2314575"/>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72E44"/>
                </a:solidFill>
                <a:latin typeface="DejaVu Sans"/>
                <a:ea typeface="DejaVu Sans"/>
                <a:cs typeface="DejaVu Sans"/>
              </a:defRPr>
            </a:pPr>
            <a:r>
              <a:rPr sz="1725" b="0">
                <a:solidFill>
                  <a:srgbClr val="172E44"/>
                </a:solidFill>
                <a:latin typeface="DejaVu Sans"/>
                <a:ea typeface="DejaVu Sans"/>
                <a:cs typeface="DejaVu Sans"/>
              </a:rPr>
              <a:t>Desired rooms</a:t>
            </a:r>
          </a:p>
        </p:txBody>
      </p:sp>
      <p:sp>
        <p:nvSpPr>
          <p:cNvPr id="44" name="x-label">
            <a:extLst xmlns:a="http://schemas.openxmlformats.org/drawingml/2006/main">
              <a:ext uri="{FF2B5EF4-FFF2-40B4-BE49-F238E27FC236}">
                <a16:creationId xmlns:a16="http://schemas.microsoft.com/office/drawing/2014/main" id="{4EA825B5-C904-4F80-AF8A-49DA068D25C4}"/>
              </a:ext>
            </a:extLst>
          </p:cNvPr>
          <p:cNvSpPr>
            <a:spLocks xmlns:a="http://schemas.openxmlformats.org/drawingml/2006/main" noGrp="1"/>
          </p:cNvSpPr>
          <p:nvPr/>
        </p:nvSpPr>
        <p:spPr>
          <a:xfrm xmlns:a="http://schemas.openxmlformats.org/drawingml/2006/main">
            <a:off x="4857750" y="54864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72E44"/>
                </a:solidFill>
                <a:latin typeface="DejaVu Sans"/>
                <a:ea typeface="DejaVu Sans"/>
                <a:cs typeface="DejaVu Sans"/>
              </a:defRPr>
            </a:pPr>
            <a:r>
              <a:rPr sz="1575" b="0">
                <a:solidFill>
                  <a:srgbClr val="172E44"/>
                </a:solidFill>
                <a:latin typeface="DejaVu Sans"/>
                <a:ea typeface="DejaVu Sans"/>
                <a:cs typeface="DejaVu Sans"/>
              </a:rPr>
              <a:t>Expenditure x</a:t>
            </a:r>
          </a:p>
        </p:txBody>
      </p:sp>
      <p:sp>
        <p:nvSpPr>
          <p:cNvPr id="45" name="cap-label">
            <a:extLst xmlns:a="http://schemas.openxmlformats.org/drawingml/2006/main">
              <a:ext uri="{FF2B5EF4-FFF2-40B4-BE49-F238E27FC236}">
                <a16:creationId xmlns:a16="http://schemas.microsoft.com/office/drawing/2014/main" id="{45E29664-07AD-43E4-AE5B-8D7F5A9CAD8E}"/>
              </a:ext>
            </a:extLst>
          </p:cNvPr>
          <p:cNvSpPr>
            <a:spLocks xmlns:a="http://schemas.openxmlformats.org/drawingml/2006/main" noGrp="1"/>
          </p:cNvSpPr>
          <p:nvPr/>
        </p:nvSpPr>
        <p:spPr>
          <a:xfrm xmlns:a="http://schemas.openxmlformats.org/drawingml/2006/main">
            <a:off x="504825" y="3625362"/>
            <a:ext cx="323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B45A3C"/>
                </a:solidFill>
                <a:latin typeface="DejaVu Serif"/>
                <a:ea typeface="DejaVu Serif"/>
                <a:cs typeface="DejaVu Serif"/>
              </a:defRPr>
            </a:pPr>
            <a:r>
              <a:rPr sz="2025" b="0">
                <a:solidFill>
                  <a:srgbClr val="B45A3C"/>
                </a:solidFill>
                <a:latin typeface="DejaVu Serif"/>
                <a:ea typeface="DejaVu Serif"/>
                <a:cs typeface="DejaVu Serif"/>
              </a:rPr>
              <a:t>H</a:t>
            </a:r>
          </a:p>
        </p:txBody>
      </p:sp>
      <p:sp>
        <p:nvSpPr>
          <p:cNvPr id="46" name="x1-label">
            <a:extLst xmlns:a="http://schemas.openxmlformats.org/drawingml/2006/main">
              <a:ext uri="{FF2B5EF4-FFF2-40B4-BE49-F238E27FC236}">
                <a16:creationId xmlns:a16="http://schemas.microsoft.com/office/drawing/2014/main" id="{BCBB5D8E-570D-445C-81A6-EFE9833E2ED1}"/>
              </a:ext>
            </a:extLst>
          </p:cNvPr>
          <p:cNvSpPr>
            <a:spLocks xmlns:a="http://schemas.openxmlformats.org/drawingml/2006/main" noGrp="1"/>
          </p:cNvSpPr>
          <p:nvPr/>
        </p:nvSpPr>
        <p:spPr>
          <a:xfrm xmlns:a="http://schemas.openxmlformats.org/drawingml/2006/main">
            <a:off x="3151186" y="53911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72E44"/>
                </a:solidFill>
                <a:latin typeface="DejaVu Serif"/>
                <a:ea typeface="DejaVu Serif"/>
                <a:cs typeface="DejaVu Serif"/>
              </a:defRPr>
            </a:pPr>
            <a:r>
              <a:rPr sz="1800" b="0">
                <a:solidFill>
                  <a:srgbClr val="172E44"/>
                </a:solidFill>
                <a:latin typeface="DejaVu Serif"/>
                <a:ea typeface="DejaVu Serif"/>
                <a:cs typeface="DejaVu Serif"/>
              </a:rPr>
              <a:t>x₁</a:t>
            </a:r>
          </a:p>
        </p:txBody>
      </p:sp>
      <p:sp>
        <p:nvSpPr>
          <p:cNvPr id="47" name="x0-label">
            <a:extLst xmlns:a="http://schemas.openxmlformats.org/drawingml/2006/main">
              <a:ext uri="{FF2B5EF4-FFF2-40B4-BE49-F238E27FC236}">
                <a16:creationId xmlns:a16="http://schemas.microsoft.com/office/drawing/2014/main" id="{8AEFAA4D-60AB-4145-BFAB-785577279F3D}"/>
              </a:ext>
            </a:extLst>
          </p:cNvPr>
          <p:cNvSpPr>
            <a:spLocks xmlns:a="http://schemas.openxmlformats.org/drawingml/2006/main" noGrp="1"/>
          </p:cNvSpPr>
          <p:nvPr/>
        </p:nvSpPr>
        <p:spPr>
          <a:xfrm xmlns:a="http://schemas.openxmlformats.org/drawingml/2006/main">
            <a:off x="4284721" y="53911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72E44"/>
                </a:solidFill>
                <a:latin typeface="DejaVu Serif"/>
                <a:ea typeface="DejaVu Serif"/>
                <a:cs typeface="DejaVu Serif"/>
              </a:defRPr>
            </a:pPr>
            <a:r>
              <a:rPr sz="1800" b="0">
                <a:solidFill>
                  <a:srgbClr val="172E44"/>
                </a:solidFill>
                <a:latin typeface="DejaVu Serif"/>
                <a:ea typeface="DejaVu Serif"/>
                <a:cs typeface="DejaVu Serif"/>
              </a:rPr>
              <a:t>x₀</a:t>
            </a:r>
          </a:p>
        </p:txBody>
      </p:sp>
      <p:sp>
        <p:nvSpPr>
          <p:cNvPr id="48" name="parent-line-label">
            <a:extLst xmlns:a="http://schemas.openxmlformats.org/drawingml/2006/main">
              <a:ext uri="{FF2B5EF4-FFF2-40B4-BE49-F238E27FC236}">
                <a16:creationId xmlns:a16="http://schemas.microsoft.com/office/drawing/2014/main" id="{B678C719-453B-49AC-9859-EF24396323D7}"/>
              </a:ext>
            </a:extLst>
          </p:cNvPr>
          <p:cNvSpPr>
            <a:spLocks xmlns:a="http://schemas.openxmlformats.org/drawingml/2006/main" noGrp="1"/>
          </p:cNvSpPr>
          <p:nvPr/>
        </p:nvSpPr>
        <p:spPr>
          <a:xfrm xmlns:a="http://schemas.openxmlformats.org/drawingml/2006/main">
            <a:off x="4772025" y="260032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087E8B"/>
                </a:solidFill>
                <a:latin typeface="DejaVu Sans"/>
                <a:ea typeface="DejaVu Sans"/>
                <a:cs typeface="DejaVu Sans"/>
              </a:defRPr>
            </a:pPr>
            <a:r>
              <a:rPr sz="1800" b="0">
                <a:solidFill>
                  <a:srgbClr val="087E8B"/>
                </a:solidFill>
                <a:latin typeface="DejaVu Sans"/>
                <a:ea typeface="DejaVu Sans"/>
                <a:cs typeface="DejaVu Sans"/>
              </a:rPr>
              <a:t>Parent h₁*</a:t>
            </a:r>
          </a:p>
        </p:txBody>
      </p:sp>
      <p:sp>
        <p:nvSpPr>
          <p:cNvPr id="49" name="childless-line-label">
            <a:extLst xmlns:a="http://schemas.openxmlformats.org/drawingml/2006/main">
              <a:ext uri="{FF2B5EF4-FFF2-40B4-BE49-F238E27FC236}">
                <a16:creationId xmlns:a16="http://schemas.microsoft.com/office/drawing/2014/main" id="{0A230A71-8BB0-46BC-B66C-3ADA03ED91FE}"/>
              </a:ext>
            </a:extLst>
          </p:cNvPr>
          <p:cNvSpPr>
            <a:spLocks xmlns:a="http://schemas.openxmlformats.org/drawingml/2006/main" noGrp="1"/>
          </p:cNvSpPr>
          <p:nvPr/>
        </p:nvSpPr>
        <p:spPr>
          <a:xfrm xmlns:a="http://schemas.openxmlformats.org/drawingml/2006/main">
            <a:off x="4619625" y="4048125"/>
            <a:ext cx="1924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3687D"/>
                </a:solidFill>
                <a:latin typeface="DejaVu Sans"/>
                <a:ea typeface="DejaVu Sans"/>
                <a:cs typeface="DejaVu Sans"/>
              </a:defRPr>
            </a:pPr>
            <a:r>
              <a:rPr sz="1725" b="0">
                <a:solidFill>
                  <a:srgbClr val="53687D"/>
                </a:solidFill>
                <a:latin typeface="DejaVu Sans"/>
                <a:ea typeface="DejaVu Sans"/>
                <a:cs typeface="DejaVu Sans"/>
              </a:rPr>
              <a:t>Childless h₀*</a:t>
            </a:r>
          </a:p>
        </p:txBody>
      </p:sp>
      <p:sp>
        <p:nvSpPr>
          <p:cNvPr id="50" name="ownership-region">
            <a:extLst xmlns:a="http://schemas.openxmlformats.org/drawingml/2006/main">
              <a:ext uri="{FF2B5EF4-FFF2-40B4-BE49-F238E27FC236}">
                <a16:creationId xmlns:a16="http://schemas.microsoft.com/office/drawing/2014/main" id="{81F3E053-116F-45BD-8F8D-84F768D09756}"/>
              </a:ext>
            </a:extLst>
          </p:cNvPr>
          <p:cNvSpPr>
            <a:spLocks xmlns:a="http://schemas.openxmlformats.org/drawingml/2006/main" noGrp="1"/>
          </p:cNvSpPr>
          <p:nvPr/>
        </p:nvSpPr>
        <p:spPr>
          <a:xfrm xmlns:a="http://schemas.openxmlformats.org/drawingml/2006/main">
            <a:off x="1028700" y="2809875"/>
            <a:ext cx="23050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B45A3C"/>
                </a:solidFill>
                <a:latin typeface="DejaVu Sans"/>
                <a:ea typeface="DejaVu Sans"/>
                <a:cs typeface="DejaVu Sans"/>
              </a:defRPr>
            </a:pPr>
            <a:r>
              <a:rPr sz="1575" b="0">
                <a:solidFill>
                  <a:srgbClr val="B45A3C"/>
                </a:solidFill>
                <a:latin typeface="DejaVu Sans"/>
                <a:ea typeface="DejaVu Sans"/>
                <a:cs typeface="DejaVu Sans"/>
              </a:rPr>
              <a:t>Space available</a:t>
            </a:r>
          </a:p>
          <a:p xmlns:a="http://schemas.openxmlformats.org/drawingml/2006/main">
            <a:pPr algn="l">
              <a:defRPr sz="1575" b="0">
                <a:solidFill>
                  <a:srgbClr val="B45A3C"/>
                </a:solidFill>
                <a:latin typeface="DejaVu Sans"/>
                <a:ea typeface="DejaVu Sans"/>
                <a:cs typeface="DejaVu Sans"/>
              </a:defRPr>
            </a:pPr>
            <a:r>
              <a:rPr sz="1575" b="0">
                <a:solidFill>
                  <a:srgbClr val="B45A3C"/>
                </a:solidFill>
                <a:latin typeface="DejaVu Sans"/>
                <a:ea typeface="DejaVu Sans"/>
                <a:cs typeface="DejaVu Sans"/>
              </a:rPr>
              <a:t>only through ownership</a:t>
            </a:r>
          </a:p>
        </p:txBody>
      </p:sp>
      <p:sp>
        <p:nvSpPr>
          <p:cNvPr id="51" name="band-label">
            <a:extLst xmlns:a="http://schemas.openxmlformats.org/drawingml/2006/main">
              <a:ext uri="{FF2B5EF4-FFF2-40B4-BE49-F238E27FC236}">
                <a16:creationId xmlns:a16="http://schemas.microsoft.com/office/drawing/2014/main" id="{BFAEF9B9-E392-4068-9A42-F508E4E5A878}"/>
              </a:ext>
            </a:extLst>
          </p:cNvPr>
          <p:cNvSpPr>
            <a:spLocks xmlns:a="http://schemas.openxmlformats.org/drawingml/2006/main" noGrp="1"/>
          </p:cNvSpPr>
          <p:nvPr/>
        </p:nvSpPr>
        <p:spPr>
          <a:xfrm xmlns:a="http://schemas.openxmlformats.org/drawingml/2006/main">
            <a:off x="3265486" y="4438650"/>
            <a:ext cx="1190684"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0">
                <a:solidFill>
                  <a:srgbClr val="172E44"/>
                </a:solidFill>
                <a:latin typeface="DejaVu Sans"/>
                <a:ea typeface="DejaVu Sans"/>
                <a:cs typeface="DejaVu Sans"/>
              </a:defRPr>
            </a:pPr>
            <a:r>
              <a:rPr sz="1575" b="0">
                <a:solidFill>
                  <a:srgbClr val="172E44"/>
                </a:solidFill>
                <a:latin typeface="DejaVu Sans"/>
                <a:ea typeface="DejaVu Sans"/>
                <a:cs typeface="DejaVu Sans"/>
              </a:rPr>
              <a:t>Only the</a:t>
            </a:r>
          </a:p>
          <a:p xmlns:a="http://schemas.openxmlformats.org/drawingml/2006/main">
            <a:pPr algn="ctr">
              <a:defRPr sz="1575" b="0">
                <a:solidFill>
                  <a:srgbClr val="172E44"/>
                </a:solidFill>
                <a:latin typeface="DejaVu Sans"/>
                <a:ea typeface="DejaVu Sans"/>
                <a:cs typeface="DejaVu Sans"/>
              </a:defRPr>
            </a:pPr>
            <a:r>
              <a:rPr sz="1575" b="0">
                <a:solidFill>
                  <a:srgbClr val="172E44"/>
                </a:solidFill>
                <a:latin typeface="DejaVu Sans"/>
                <a:ea typeface="DejaVu Sans"/>
                <a:cs typeface="DejaVu Sans"/>
              </a:rPr>
              <a:t>parent cap</a:t>
            </a:r>
          </a:p>
          <a:p xmlns:a="http://schemas.openxmlformats.org/drawingml/2006/main">
            <a:pPr algn="ctr">
              <a:defRPr sz="1575" b="0">
                <a:solidFill>
                  <a:srgbClr val="172E44"/>
                </a:solidFill>
                <a:latin typeface="DejaVu Sans"/>
                <a:ea typeface="DejaVu Sans"/>
                <a:cs typeface="DejaVu Sans"/>
              </a:defRPr>
            </a:pPr>
            <a:r>
              <a:rPr sz="1575" b="0">
                <a:solidFill>
                  <a:srgbClr val="172E44"/>
                </a:solidFill>
                <a:latin typeface="DejaVu Sans"/>
                <a:ea typeface="DejaVu Sans"/>
                <a:cs typeface="DejaVu Sans"/>
              </a:rPr>
              <a:t>binds</a:t>
            </a:r>
          </a:p>
        </p:txBody>
      </p:sp>
      <p:sp>
        <p:nvSpPr>
          <p:cNvPr id="52" name="threshold-calibration">
            <a:extLst xmlns:a="http://schemas.openxmlformats.org/drawingml/2006/main">
              <a:ext uri="{FF2B5EF4-FFF2-40B4-BE49-F238E27FC236}">
                <a16:creationId xmlns:a16="http://schemas.microsoft.com/office/drawing/2014/main" id="{1CD5CB64-97CB-461F-AA6A-24078CA266C3}"/>
              </a:ext>
            </a:extLst>
          </p:cNvPr>
          <p:cNvSpPr>
            <a:spLocks xmlns:a="http://schemas.openxmlformats.org/drawingml/2006/main" noGrp="1"/>
          </p:cNvSpPr>
          <p:nvPr/>
        </p:nvSpPr>
        <p:spPr>
          <a:xfrm xmlns:a="http://schemas.openxmlformats.org/drawingml/2006/main">
            <a:off x="762000" y="5819775"/>
            <a:ext cx="6381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667481"/>
                </a:solidFill>
                <a:latin typeface="DejaVu Sans"/>
                <a:ea typeface="DejaVu Sans"/>
                <a:cs typeface="DejaVu Sans"/>
              </a:defRPr>
            </a:pPr>
            <a:r>
              <a:rPr sz="1500" b="0">
                <a:solidFill>
                  <a:srgbClr val="667481"/>
                </a:solidFill>
                <a:latin typeface="DejaVu Sans"/>
                <a:ea typeface="DejaVu Sans"/>
                <a:cs typeface="DejaVu Sans"/>
              </a:rPr>
              <a:t>Benchmark expenditure thresholds: x₁ ≈ 2.160, x₀ ≈ 3.157</a:t>
            </a:r>
          </a:p>
        </p:txBody>
      </p:sp>
      <p:sp>
        <p:nvSpPr>
          <p:cNvPr id="53" name="region-title">
            <a:extLst xmlns:a="http://schemas.openxmlformats.org/drawingml/2006/main">
              <a:ext uri="{FF2B5EF4-FFF2-40B4-BE49-F238E27FC236}">
                <a16:creationId xmlns:a16="http://schemas.microsoft.com/office/drawing/2014/main" id="{D5AA35B4-7E8B-4A99-9C4C-597B6D13A7A9}"/>
              </a:ext>
            </a:extLst>
          </p:cNvPr>
          <p:cNvSpPr>
            <a:spLocks xmlns:a="http://schemas.openxmlformats.org/drawingml/2006/main" noGrp="1"/>
          </p:cNvSpPr>
          <p:nvPr/>
        </p:nvSpPr>
        <p:spPr>
          <a:xfrm xmlns:a="http://schemas.openxmlformats.org/drawingml/2006/main">
            <a:off x="6962775" y="1809750"/>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72E44"/>
                </a:solidFill>
                <a:latin typeface="DejaVu Sans"/>
                <a:ea typeface="DejaVu Sans"/>
                <a:cs typeface="DejaVu Sans"/>
              </a:defRPr>
            </a:pPr>
            <a:r>
              <a:rPr sz="2175" b="1">
                <a:solidFill>
                  <a:srgbClr val="172E44"/>
                </a:solidFill>
                <a:latin typeface="DejaVu Sans"/>
                <a:ea typeface="DejaVu Sans"/>
                <a:cs typeface="DejaVu Sans"/>
              </a:rPr>
              <a:t>Parents reach the</a:t>
            </a:r>
          </a:p>
          <a:p xmlns:a="http://schemas.openxmlformats.org/drawingml/2006/main">
            <a:pPr algn="l">
              <a:defRPr sz="2175" b="1">
                <a:solidFill>
                  <a:srgbClr val="172E44"/>
                </a:solidFill>
                <a:latin typeface="DejaVu Sans"/>
                <a:ea typeface="DejaVu Sans"/>
                <a:cs typeface="DejaVu Sans"/>
              </a:defRPr>
            </a:pPr>
            <a:r>
              <a:rPr sz="2175" b="1">
                <a:solidFill>
                  <a:srgbClr val="172E44"/>
                </a:solidFill>
                <a:latin typeface="DejaVu Sans"/>
                <a:ea typeface="DejaVu Sans"/>
                <a:cs typeface="DejaVu Sans"/>
              </a:rPr>
              <a:t>rental cap first</a:t>
            </a:r>
          </a:p>
        </p:txBody>
      </p:sp>
      <p:sp>
        <p:nvSpPr>
          <p:cNvPr id="54" name="x1-formula">
            <a:extLst xmlns:a="http://schemas.openxmlformats.org/drawingml/2006/main">
              <a:ext uri="{FF2B5EF4-FFF2-40B4-BE49-F238E27FC236}">
                <a16:creationId xmlns:a16="http://schemas.microsoft.com/office/drawing/2014/main" id="{F48DE552-3A78-4399-A6D6-0441A216B59A}"/>
              </a:ext>
            </a:extLst>
          </p:cNvPr>
          <p:cNvSpPr>
            <a:spLocks xmlns:a="http://schemas.openxmlformats.org/drawingml/2006/main" noGrp="1"/>
          </p:cNvSpPr>
          <p:nvPr/>
        </p:nvSpPr>
        <p:spPr>
          <a:xfrm xmlns:a="http://schemas.openxmlformats.org/drawingml/2006/main">
            <a:off x="6981825" y="2667000"/>
            <a:ext cx="4600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72E44"/>
                </a:solidFill>
                <a:latin typeface="DejaVu Serif"/>
                <a:ea typeface="DejaVu Serif"/>
                <a:cs typeface="DejaVu Serif"/>
              </a:defRPr>
            </a:pPr>
            <a:r>
              <a:rPr sz="2025" b="0">
                <a:solidFill>
                  <a:srgbClr val="172E44"/>
                </a:solidFill>
                <a:latin typeface="DejaVu Serif"/>
                <a:ea typeface="DejaVu Serif"/>
                <a:cs typeface="DejaVu Serif"/>
              </a:rPr>
              <a:t>x₁ = r(H − αhₚ)/(1 − α)</a:t>
            </a:r>
          </a:p>
        </p:txBody>
      </p:sp>
      <p:sp>
        <p:nvSpPr>
          <p:cNvPr id="55" name="x0-formula">
            <a:extLst xmlns:a="http://schemas.openxmlformats.org/drawingml/2006/main">
              <a:ext uri="{FF2B5EF4-FFF2-40B4-BE49-F238E27FC236}">
                <a16:creationId xmlns:a16="http://schemas.microsoft.com/office/drawing/2014/main" id="{AA069A11-844B-49B3-9BA8-0B92D0506086}"/>
              </a:ext>
            </a:extLst>
          </p:cNvPr>
          <p:cNvSpPr>
            <a:spLocks xmlns:a="http://schemas.openxmlformats.org/drawingml/2006/main" noGrp="1"/>
          </p:cNvSpPr>
          <p:nvPr/>
        </p:nvSpPr>
        <p:spPr>
          <a:xfrm xmlns:a="http://schemas.openxmlformats.org/drawingml/2006/main">
            <a:off x="6981825" y="3133725"/>
            <a:ext cx="4600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72E44"/>
                </a:solidFill>
                <a:latin typeface="DejaVu Serif"/>
                <a:ea typeface="DejaVu Serif"/>
                <a:cs typeface="DejaVu Serif"/>
              </a:defRPr>
            </a:pPr>
            <a:r>
              <a:rPr sz="2025" b="0">
                <a:solidFill>
                  <a:srgbClr val="172E44"/>
                </a:solidFill>
                <a:latin typeface="DejaVu Serif"/>
                <a:ea typeface="DejaVu Serif"/>
                <a:cs typeface="DejaVu Serif"/>
              </a:rPr>
              <a:t>x₀ = rH/(1 − α) &gt; x₁</a:t>
            </a:r>
          </a:p>
        </p:txBody>
      </p:sp>
      <p:sp>
        <p:nvSpPr>
          <p:cNvPr id="56" name="region-condition">
            <a:extLst xmlns:a="http://schemas.openxmlformats.org/drawingml/2006/main">
              <a:ext uri="{FF2B5EF4-FFF2-40B4-BE49-F238E27FC236}">
                <a16:creationId xmlns:a16="http://schemas.microsoft.com/office/drawing/2014/main" id="{00D098BD-A00B-4ED8-AF30-84950639FEA5}"/>
              </a:ext>
            </a:extLst>
          </p:cNvPr>
          <p:cNvSpPr>
            <a:spLocks xmlns:a="http://schemas.openxmlformats.org/drawingml/2006/main" noGrp="1"/>
          </p:cNvSpPr>
          <p:nvPr/>
        </p:nvSpPr>
        <p:spPr>
          <a:xfrm xmlns:a="http://schemas.openxmlformats.org/drawingml/2006/main">
            <a:off x="6981825" y="3771900"/>
            <a:ext cx="4648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72E44"/>
                </a:solidFill>
                <a:latin typeface="DejaVu Sans"/>
                <a:ea typeface="DejaVu Sans"/>
                <a:cs typeface="DejaVu Sans"/>
              </a:defRPr>
            </a:pPr>
            <a:r>
              <a:rPr sz="1950" b="0">
                <a:solidFill>
                  <a:srgbClr val="172E44"/>
                </a:solidFill>
                <a:latin typeface="DejaVu Sans"/>
                <a:ea typeface="DejaVu Sans"/>
                <a:cs typeface="DejaVu Sans"/>
              </a:rPr>
              <a:t>When x₁ &lt; x &lt; x₀, the childless</a:t>
            </a:r>
          </a:p>
          <a:p xmlns:a="http://schemas.openxmlformats.org/drawingml/2006/main">
            <a:pPr algn="l">
              <a:defRPr sz="1950" b="0">
                <a:solidFill>
                  <a:srgbClr val="172E44"/>
                </a:solidFill>
                <a:latin typeface="DejaVu Sans"/>
                <a:ea typeface="DejaVu Sans"/>
                <a:cs typeface="DejaVu Sans"/>
              </a:defRPr>
            </a:pPr>
            <a:r>
              <a:rPr sz="1950" b="0">
                <a:solidFill>
                  <a:srgbClr val="172E44"/>
                </a:solidFill>
                <a:latin typeface="DejaVu Sans"/>
                <a:ea typeface="DejaVu Sans"/>
                <a:cs typeface="DejaVu Sans"/>
              </a:rPr>
              <a:t>rental option stays unconstrained.</a:t>
            </a:r>
          </a:p>
        </p:txBody>
      </p:sp>
      <p:sp>
        <p:nvSpPr>
          <p:cNvPr id="57" name="cap-effect">
            <a:extLst xmlns:a="http://schemas.openxmlformats.org/drawingml/2006/main">
              <a:ext uri="{FF2B5EF4-FFF2-40B4-BE49-F238E27FC236}">
                <a16:creationId xmlns:a16="http://schemas.microsoft.com/office/drawing/2014/main" id="{F0B58537-B73E-4DEE-B866-E0B38F8DCE96}"/>
              </a:ext>
            </a:extLst>
          </p:cNvPr>
          <p:cNvSpPr>
            <a:spLocks xmlns:a="http://schemas.openxmlformats.org/drawingml/2006/main" noGrp="1"/>
          </p:cNvSpPr>
          <p:nvPr/>
        </p:nvSpPr>
        <p:spPr>
          <a:xfrm xmlns:a="http://schemas.openxmlformats.org/drawingml/2006/main">
            <a:off x="6981825" y="4810125"/>
            <a:ext cx="4610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087E8B"/>
                </a:solidFill>
                <a:latin typeface="DejaVu Serif"/>
                <a:ea typeface="DejaVu Serif"/>
                <a:cs typeface="DejaVu Serif"/>
              </a:defRPr>
            </a:pPr>
            <a:r>
              <a:rPr sz="2250" b="0">
                <a:solidFill>
                  <a:srgbClr val="087E8B"/>
                </a:solidFill>
                <a:latin typeface="DejaVu Serif"/>
                <a:ea typeface="DejaVu Serif"/>
                <a:cs typeface="DejaVu Serif"/>
              </a:rPr>
              <a:t>∂D/∂H = ζ₁ − ζ₀ &gt; 0</a:t>
            </a:r>
          </a:p>
        </p:txBody>
      </p:sp>
      <p:sp>
        <p:nvSpPr>
          <p:cNvPr id="58" name="shadow-definition">
            <a:extLst xmlns:a="http://schemas.openxmlformats.org/drawingml/2006/main">
              <a:ext uri="{FF2B5EF4-FFF2-40B4-BE49-F238E27FC236}">
                <a16:creationId xmlns:a16="http://schemas.microsoft.com/office/drawing/2014/main" id="{A6C38DE3-FAFE-4AA3-9D22-1DA1C224268F}"/>
              </a:ext>
            </a:extLst>
          </p:cNvPr>
          <p:cNvSpPr>
            <a:spLocks xmlns:a="http://schemas.openxmlformats.org/drawingml/2006/main" noGrp="1"/>
          </p:cNvSpPr>
          <p:nvPr/>
        </p:nvSpPr>
        <p:spPr>
          <a:xfrm xmlns:a="http://schemas.openxmlformats.org/drawingml/2006/main">
            <a:off x="6981825" y="5286375"/>
            <a:ext cx="4610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67481"/>
                </a:solidFill>
                <a:latin typeface="DejaVu Sans"/>
                <a:ea typeface="DejaVu Sans"/>
                <a:cs typeface="DejaVu Sans"/>
              </a:defRPr>
            </a:pPr>
            <a:r>
              <a:rPr sz="1350" b="0">
                <a:solidFill>
                  <a:srgbClr val="667481"/>
                </a:solidFill>
                <a:latin typeface="DejaVu Sans"/>
                <a:ea typeface="DejaVu Sans"/>
                <a:cs typeface="DejaVu Sans"/>
              </a:rPr>
              <a:t>D: birth advantage. ζₘ: value of relaxing the cap.</a:t>
            </a:r>
          </a:p>
        </p:txBody>
      </p:sp>
      <p:sp>
        <p:nvSpPr>
          <p:cNvPr id="59" name="scope1">
            <a:extLst xmlns:a="http://schemas.openxmlformats.org/drawingml/2006/main">
              <a:ext uri="{FF2B5EF4-FFF2-40B4-BE49-F238E27FC236}">
                <a16:creationId xmlns:a16="http://schemas.microsoft.com/office/drawing/2014/main" id="{DCCE5FB8-1E86-4B9C-8777-C4065238594F}"/>
              </a:ext>
            </a:extLst>
          </p:cNvPr>
          <p:cNvSpPr>
            <a:spLocks xmlns:a="http://schemas.openxmlformats.org/drawingml/2006/main" noGrp="1"/>
          </p:cNvSpPr>
          <p:nvPr/>
        </p:nvSpPr>
        <p:spPr>
          <a:xfrm xmlns:a="http://schemas.openxmlformats.org/drawingml/2006/main">
            <a:off x="6981825" y="5600700"/>
            <a:ext cx="4610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667481"/>
                </a:solidFill>
                <a:latin typeface="DejaVu Sans"/>
                <a:ea typeface="DejaVu Sans"/>
                <a:cs typeface="DejaVu Sans"/>
              </a:defRPr>
            </a:pPr>
            <a:r>
              <a:rPr sz="1425" b="0">
                <a:solidFill>
                  <a:srgbClr val="667481"/>
                </a:solidFill>
                <a:latin typeface="DejaVu Sans"/>
                <a:ea typeface="DejaVu Sans"/>
                <a:cs typeface="DejaVu Sans"/>
              </a:rPr>
              <a:t>Conditional on renting and common x</a:t>
            </a:r>
          </a:p>
        </p:txBody>
      </p:sp>
      <p:sp>
        <p:nvSpPr>
          <p:cNvPr id="60" name="finance-divider">
            <a:extLst xmlns:a="http://schemas.openxmlformats.org/drawingml/2006/main">
              <a:ext uri="{FF2B5EF4-FFF2-40B4-BE49-F238E27FC236}">
                <a16:creationId xmlns:a16="http://schemas.microsoft.com/office/drawing/2014/main" id="{4AF8D7A4-71C1-4EF9-984F-D6BDA3813D77}"/>
              </a:ext>
            </a:extLst>
          </p:cNvPr>
          <p:cNvSpPr>
            <a:spLocks xmlns:a="http://schemas.openxmlformats.org/drawingml/2006/main" noGrp="1"/>
          </p:cNvSpPr>
          <p:nvPr/>
        </p:nvSpPr>
        <p:spPr>
          <a:xfrm xmlns:a="http://schemas.openxmlformats.org/drawingml/2006/main">
            <a:off x="609600" y="6057900"/>
            <a:ext cx="10972800" cy="953"/>
          </a:xfrm>
          <a:custGeom xmlns:a="http://schemas.openxmlformats.org/drawingml/2006/main">
            <a:pathLst>
              <a:path w="10972800" h="953">
                <a:moveTo>
                  <a:pt x="0" y="0"/>
                </a:moveTo>
                <a:lnTo>
                  <a:pt x="10972800" y="0"/>
                </a:lnTo>
              </a:path>
            </a:pathLst>
          </a:custGeom>
          <a:noFill xmlns:a="http://schemas.openxmlformats.org/drawingml/2006/main"/>
          <a:ln xmlns:a="http://schemas.openxmlformats.org/drawingml/2006/main" w="9525">
            <a:solidFill>
              <a:srgbClr val="D4DDE3"/>
            </a:solidFill>
            <a:prstDash val="solid"/>
          </a:ln>
        </p:spPr>
      </p:sp>
      <p:sp>
        <p:nvSpPr>
          <p:cNvPr id="61" name="finance">
            <a:extLst xmlns:a="http://schemas.openxmlformats.org/drawingml/2006/main">
              <a:ext uri="{FF2B5EF4-FFF2-40B4-BE49-F238E27FC236}">
                <a16:creationId xmlns:a16="http://schemas.microsoft.com/office/drawing/2014/main" id="{4FC1F921-9669-412B-8451-E8C63E2E018E}"/>
              </a:ext>
            </a:extLst>
          </p:cNvPr>
          <p:cNvSpPr>
            <a:spLocks xmlns:a="http://schemas.openxmlformats.org/drawingml/2006/main" noGrp="1"/>
          </p:cNvSpPr>
          <p:nvPr/>
        </p:nvSpPr>
        <p:spPr>
          <a:xfrm xmlns:a="http://schemas.openxmlformats.org/drawingml/2006/main">
            <a:off x="609600" y="61626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72E44"/>
                </a:solidFill>
                <a:latin typeface="DejaVu Sans"/>
                <a:ea typeface="DejaVu Sans"/>
                <a:cs typeface="DejaVu Sans"/>
              </a:defRPr>
            </a:pPr>
            <a:r>
              <a:rPr sz="1950" b="0">
                <a:solidFill>
                  <a:srgbClr val="172E44"/>
                </a:solidFill>
                <a:latin typeface="DejaVu Sans"/>
                <a:ea typeface="DejaVu Sans"/>
                <a:cs typeface="DejaVu Sans"/>
              </a:rPr>
              <a:t>Ownership finance: c + k(h) + (1 − φ)Ph ≤ M</a:t>
            </a:r>
          </a:p>
        </p:txBody>
      </p:sp>
      <p:sp>
        <p:nvSpPr>
          <p:cNvPr id="62" name="finance-definition">
            <a:extLst xmlns:a="http://schemas.openxmlformats.org/drawingml/2006/main">
              <a:ext uri="{FF2B5EF4-FFF2-40B4-BE49-F238E27FC236}">
                <a16:creationId xmlns:a16="http://schemas.microsoft.com/office/drawing/2014/main" id="{4FFAD995-1EE0-4188-A81A-F4F3C9B43005}"/>
              </a:ext>
            </a:extLst>
          </p:cNvPr>
          <p:cNvSpPr>
            <a:spLocks xmlns:a="http://schemas.openxmlformats.org/drawingml/2006/main" noGrp="1"/>
          </p:cNvSpPr>
          <p:nvPr/>
        </p:nvSpPr>
        <p:spPr>
          <a:xfrm xmlns:a="http://schemas.openxmlformats.org/drawingml/2006/main">
            <a:off x="609600" y="6553200"/>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67481"/>
                </a:solidFill>
                <a:latin typeface="DejaVu Sans"/>
                <a:ea typeface="DejaVu Sans"/>
                <a:cs typeface="DejaVu Sans"/>
              </a:defRPr>
            </a:pPr>
            <a:r>
              <a:rPr sz="1350" b="0">
                <a:solidFill>
                  <a:srgbClr val="667481"/>
                </a:solidFill>
                <a:latin typeface="DejaVu Sans"/>
                <a:ea typeface="DejaVu Sans"/>
                <a:cs typeface="DejaVu Sans"/>
              </a:rPr>
              <a:t>M includes income and liquid wealth. P: price per room. φ: LTV. k(h): other current costs.</a:t>
            </a:r>
          </a:p>
        </p:txBody>
      </p:sp>
    </p:spTree>
    <p:extLst>
      <p:ext uri="{BB962C8B-B14F-4D97-AF65-F5344CB8AC3E}">
        <p14:creationId xmlns:p14="http://schemas.microsoft.com/office/powerpoint/2010/main" val="15490438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title">
            <a:extLst xmlns:a="http://schemas.openxmlformats.org/drawingml/2006/main">
              <a:ext uri="{FF2B5EF4-FFF2-40B4-BE49-F238E27FC236}">
                <a16:creationId xmlns:a16="http://schemas.microsoft.com/office/drawing/2014/main" id="{3C6C9944-0F34-4740-901A-2067C0E6A49B}"/>
              </a:ext>
            </a:extLst>
          </p:cNvPr>
          <p:cNvSpPr>
            <a:spLocks xmlns:a="http://schemas.openxmlformats.org/drawingml/2006/main" noGrp="1"/>
          </p:cNvSpPr>
          <p:nvPr/>
        </p:nvSpPr>
        <p:spPr>
          <a:xfrm xmlns:a="http://schemas.openxmlformats.org/drawingml/2006/main">
            <a:off x="590550" y="323850"/>
            <a:ext cx="11010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150" b="1">
                <a:solidFill>
                  <a:srgbClr val="172E44"/>
                </a:solidFill>
                <a:latin typeface="DejaVu Sans"/>
                <a:ea typeface="DejaVu Sans"/>
                <a:cs typeface="DejaVu Sans"/>
              </a:defRPr>
            </a:pPr>
            <a:r>
              <a:rPr sz="3150" b="1">
                <a:solidFill>
                  <a:srgbClr val="172E44"/>
                </a:solidFill>
                <a:latin typeface="DejaVu Sans"/>
                <a:ea typeface="DejaVu Sans"/>
                <a:cs typeface="DejaVu Sans"/>
              </a:rPr>
              <a:t>Rental limits can amplify the local cost of risk</a:t>
            </a:r>
          </a:p>
        </p:txBody>
      </p:sp>
      <p:sp>
        <p:nvSpPr>
          <p:cNvPr id="2" name="timing">
            <a:extLst xmlns:a="http://schemas.openxmlformats.org/drawingml/2006/main">
              <a:ext uri="{FF2B5EF4-FFF2-40B4-BE49-F238E27FC236}">
                <a16:creationId xmlns:a16="http://schemas.microsoft.com/office/drawing/2014/main" id="{4C8BEB03-AF97-4AE3-A32E-78F43BA4172A}"/>
              </a:ext>
            </a:extLst>
          </p:cNvPr>
          <p:cNvSpPr>
            <a:spLocks xmlns:a="http://schemas.openxmlformats.org/drawingml/2006/main" noGrp="1"/>
          </p:cNvSpPr>
          <p:nvPr/>
        </p:nvSpPr>
        <p:spPr>
          <a:xfrm xmlns:a="http://schemas.openxmlformats.org/drawingml/2006/main">
            <a:off x="609600" y="10763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72E44"/>
                </a:solidFill>
                <a:latin typeface="DejaVu Sans"/>
                <a:ea typeface="DejaVu Sans"/>
                <a:cs typeface="DejaVu Sans"/>
              </a:defRPr>
            </a:pPr>
            <a:r>
              <a:rPr sz="2100" b="0">
                <a:solidFill>
                  <a:srgbClr val="172E44"/>
                </a:solidFill>
                <a:latin typeface="DejaVu Sans"/>
                <a:ea typeface="DejaVu Sans"/>
                <a:cs typeface="DejaVu Sans"/>
              </a:rPr>
              <a:t>Commit to the child before future expenditure X is realized.</a:t>
            </a:r>
          </a:p>
          <a:p xmlns:a="http://schemas.openxmlformats.org/drawingml/2006/main">
            <a:pPr algn="l">
              <a:defRPr sz="2100" b="0">
                <a:solidFill>
                  <a:srgbClr val="172E44"/>
                </a:solidFill>
                <a:latin typeface="DejaVu Sans"/>
                <a:ea typeface="DejaVu Sans"/>
                <a:cs typeface="DejaVu Sans"/>
              </a:defRPr>
            </a:pPr>
            <a:r>
              <a:rPr sz="2100" b="0">
                <a:solidFill>
                  <a:srgbClr val="172E44"/>
                </a:solidFill>
                <a:latin typeface="DejaVu Sans"/>
                <a:ea typeface="DejaVu Sans"/>
                <a:cs typeface="DejaVu Sans"/>
              </a:rPr>
              <a:t>Compare capped and uncapped rental options near x₁.</a:t>
            </a:r>
          </a:p>
        </p:txBody>
      </p:sp>
      <p:sp>
        <p:nvSpPr>
          <p:cNvPr id="3" name="loss-definition">
            <a:extLst xmlns:a="http://schemas.openxmlformats.org/drawingml/2006/main">
              <a:ext uri="{FF2B5EF4-FFF2-40B4-BE49-F238E27FC236}">
                <a16:creationId xmlns:a16="http://schemas.microsoft.com/office/drawing/2014/main" id="{6035AC43-D6D4-4095-9BF4-222E1DE60979}"/>
              </a:ext>
            </a:extLst>
          </p:cNvPr>
          <p:cNvSpPr>
            <a:spLocks xmlns:a="http://schemas.openxmlformats.org/drawingml/2006/main" noGrp="1"/>
          </p:cNvSpPr>
          <p:nvPr/>
        </p:nvSpPr>
        <p:spPr>
          <a:xfrm xmlns:a="http://schemas.openxmlformats.org/drawingml/2006/main">
            <a:off x="609600" y="2238375"/>
            <a:ext cx="6153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72E44"/>
                </a:solidFill>
                <a:latin typeface="DejaVu Serif"/>
                <a:ea typeface="DejaVu Serif"/>
                <a:cs typeface="DejaVu Serif"/>
              </a:defRPr>
            </a:pPr>
            <a:r>
              <a:rPr sz="2325" b="0">
                <a:solidFill>
                  <a:srgbClr val="172E44"/>
                </a:solidFill>
                <a:latin typeface="DejaVu Serif"/>
                <a:ea typeface="DejaVu Serif"/>
                <a:cs typeface="DejaVu Serif"/>
              </a:rPr>
              <a:t>L(x) = D(∞, x) − D(H, x)</a:t>
            </a:r>
          </a:p>
        </p:txBody>
      </p:sp>
      <p:sp>
        <p:nvSpPr>
          <p:cNvPr id="4" name="value-match">
            <a:extLst xmlns:a="http://schemas.openxmlformats.org/drawingml/2006/main">
              <a:ext uri="{FF2B5EF4-FFF2-40B4-BE49-F238E27FC236}">
                <a16:creationId xmlns:a16="http://schemas.microsoft.com/office/drawing/2014/main" id="{8E7B2470-B07C-4D3C-81ED-9C87BFE5C073}"/>
              </a:ext>
            </a:extLst>
          </p:cNvPr>
          <p:cNvSpPr>
            <a:spLocks xmlns:a="http://schemas.openxmlformats.org/drawingml/2006/main" noGrp="1"/>
          </p:cNvSpPr>
          <p:nvPr/>
        </p:nvSpPr>
        <p:spPr>
          <a:xfrm xmlns:a="http://schemas.openxmlformats.org/drawingml/2006/main">
            <a:off x="609600" y="2857500"/>
            <a:ext cx="6143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72E44"/>
                </a:solidFill>
                <a:latin typeface="DejaVu Serif"/>
                <a:ea typeface="DejaVu Serif"/>
                <a:cs typeface="DejaVu Serif"/>
              </a:defRPr>
            </a:pPr>
            <a:r>
              <a:rPr sz="2175" b="0">
                <a:solidFill>
                  <a:srgbClr val="172E44"/>
                </a:solidFill>
                <a:latin typeface="DejaVu Serif"/>
                <a:ea typeface="DejaVu Serif"/>
                <a:cs typeface="DejaVu Serif"/>
              </a:rPr>
              <a:t>L(x₁) = L′(x₁) = 0</a:t>
            </a:r>
          </a:p>
        </p:txBody>
      </p:sp>
      <p:sp>
        <p:nvSpPr>
          <p:cNvPr id="5" name="loss-curvature">
            <a:extLst xmlns:a="http://schemas.openxmlformats.org/drawingml/2006/main">
              <a:ext uri="{FF2B5EF4-FFF2-40B4-BE49-F238E27FC236}">
                <a16:creationId xmlns:a16="http://schemas.microsoft.com/office/drawing/2014/main" id="{C3E6477E-11BF-4D58-B4E9-8266A90E5455}"/>
              </a:ext>
            </a:extLst>
          </p:cNvPr>
          <p:cNvSpPr>
            <a:spLocks xmlns:a="http://schemas.openxmlformats.org/drawingml/2006/main" noGrp="1"/>
          </p:cNvSpPr>
          <p:nvPr/>
        </p:nvSpPr>
        <p:spPr>
          <a:xfrm xmlns:a="http://schemas.openxmlformats.org/drawingml/2006/main">
            <a:off x="609600" y="3448050"/>
            <a:ext cx="628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087E8B"/>
                </a:solidFill>
                <a:latin typeface="DejaVu Serif"/>
                <a:ea typeface="DejaVu Serif"/>
                <a:cs typeface="DejaVu Serif"/>
              </a:defRPr>
            </a:pPr>
            <a:r>
              <a:rPr sz="1950" b="0">
                <a:solidFill>
                  <a:srgbClr val="087E8B"/>
                </a:solidFill>
                <a:latin typeface="DejaVu Serif"/>
                <a:ea typeface="DejaVu Serif"/>
                <a:cs typeface="DejaVu Serif"/>
              </a:rPr>
              <a:t>L″(x₁⁺) = [(1 − α)/α] λ/(x₁ − rhₚ) &gt; 0</a:t>
            </a:r>
          </a:p>
        </p:txBody>
      </p:sp>
      <p:sp>
        <p:nvSpPr>
          <p:cNvPr id="6" name="lambda-definition">
            <a:extLst xmlns:a="http://schemas.openxmlformats.org/drawingml/2006/main">
              <a:ext uri="{FF2B5EF4-FFF2-40B4-BE49-F238E27FC236}">
                <a16:creationId xmlns:a16="http://schemas.microsoft.com/office/drawing/2014/main" id="{FB161204-E464-4597-B05D-100E907259A8}"/>
              </a:ext>
            </a:extLst>
          </p:cNvPr>
          <p:cNvSpPr>
            <a:spLocks xmlns:a="http://schemas.openxmlformats.org/drawingml/2006/main" noGrp="1"/>
          </p:cNvSpPr>
          <p:nvPr/>
        </p:nvSpPr>
        <p:spPr>
          <a:xfrm xmlns:a="http://schemas.openxmlformats.org/drawingml/2006/main">
            <a:off x="609600" y="3905250"/>
            <a:ext cx="6200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667481"/>
                </a:solidFill>
                <a:latin typeface="DejaVu Sans"/>
                <a:ea typeface="DejaVu Sans"/>
                <a:cs typeface="DejaVu Sans"/>
              </a:defRPr>
            </a:pPr>
            <a:r>
              <a:rPr sz="1575" b="0">
                <a:solidFill>
                  <a:srgbClr val="667481"/>
                </a:solidFill>
                <a:latin typeface="DejaVu Sans"/>
                <a:ea typeface="DejaVu Sans"/>
                <a:cs typeface="DejaVu Sans"/>
              </a:rPr>
              <a:t>λ is the marginal value of expenditure at x₁.</a:t>
            </a:r>
          </a:p>
        </p:txBody>
      </p:sp>
      <p:sp>
        <p:nvSpPr>
          <p:cNvPr id="7" name="symmetric-risk">
            <a:extLst xmlns:a="http://schemas.openxmlformats.org/drawingml/2006/main">
              <a:ext uri="{FF2B5EF4-FFF2-40B4-BE49-F238E27FC236}">
                <a16:creationId xmlns:a16="http://schemas.microsoft.com/office/drawing/2014/main" id="{27FF0585-2EA3-455F-921E-377E51689742}"/>
              </a:ext>
            </a:extLst>
          </p:cNvPr>
          <p:cNvSpPr>
            <a:spLocks xmlns:a="http://schemas.openxmlformats.org/drawingml/2006/main" noGrp="1"/>
          </p:cNvSpPr>
          <p:nvPr/>
        </p:nvSpPr>
        <p:spPr>
          <a:xfrm xmlns:a="http://schemas.openxmlformats.org/drawingml/2006/main">
            <a:off x="609600" y="4495800"/>
            <a:ext cx="621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72E44"/>
                </a:solidFill>
                <a:latin typeface="DejaVu Serif"/>
                <a:ea typeface="DejaVu Serif"/>
                <a:cs typeface="DejaVu Serif"/>
              </a:defRPr>
            </a:pPr>
            <a:r>
              <a:rPr sz="2025" b="0">
                <a:solidFill>
                  <a:srgbClr val="172E44"/>
                </a:solidFill>
                <a:latin typeface="DejaVu Serif"/>
                <a:ea typeface="DejaVu Serif"/>
                <a:cs typeface="DejaVu Serif"/>
              </a:rPr>
              <a:t>X = x₁ ± ε, each with probability ½</a:t>
            </a:r>
          </a:p>
        </p:txBody>
      </p:sp>
      <p:sp>
        <p:nvSpPr>
          <p:cNvPr id="8" name="additional-risk-cost">
            <a:extLst xmlns:a="http://schemas.openxmlformats.org/drawingml/2006/main">
              <a:ext uri="{FF2B5EF4-FFF2-40B4-BE49-F238E27FC236}">
                <a16:creationId xmlns:a16="http://schemas.microsoft.com/office/drawing/2014/main" id="{2F73F30B-955C-47F8-8F73-95A837A8ACCE}"/>
              </a:ext>
            </a:extLst>
          </p:cNvPr>
          <p:cNvSpPr>
            <a:spLocks xmlns:a="http://schemas.openxmlformats.org/drawingml/2006/main" noGrp="1"/>
          </p:cNvSpPr>
          <p:nvPr/>
        </p:nvSpPr>
        <p:spPr>
          <a:xfrm xmlns:a="http://schemas.openxmlformats.org/drawingml/2006/main">
            <a:off x="609600" y="5029200"/>
            <a:ext cx="6276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087E8B"/>
                </a:solidFill>
                <a:latin typeface="DejaVu Serif"/>
                <a:ea typeface="DejaVu Serif"/>
                <a:cs typeface="DejaVu Serif"/>
              </a:defRPr>
            </a:pPr>
            <a:r>
              <a:rPr sz="1950" b="0">
                <a:solidFill>
                  <a:srgbClr val="087E8B"/>
                </a:solidFill>
                <a:latin typeface="DejaVu Serif"/>
                <a:ea typeface="DejaVu Serif"/>
                <a:cs typeface="DejaVu Serif"/>
              </a:rPr>
              <a:t>Extra penalty = ¼ L″(x₁⁺) ε² + o(ε²) &gt; 0</a:t>
            </a:r>
          </a:p>
        </p:txBody>
      </p:sp>
      <p:sp>
        <p:nvSpPr>
          <p:cNvPr id="9" name="loss-diagram-title">
            <a:extLst xmlns:a="http://schemas.openxmlformats.org/drawingml/2006/main">
              <a:ext uri="{FF2B5EF4-FFF2-40B4-BE49-F238E27FC236}">
                <a16:creationId xmlns:a16="http://schemas.microsoft.com/office/drawing/2014/main" id="{3B28F15B-5F7F-4B39-951E-706B64D7CF9A}"/>
              </a:ext>
            </a:extLst>
          </p:cNvPr>
          <p:cNvSpPr>
            <a:spLocks xmlns:a="http://schemas.openxmlformats.org/drawingml/2006/main" noGrp="1"/>
          </p:cNvSpPr>
          <p:nvPr/>
        </p:nvSpPr>
        <p:spPr>
          <a:xfrm xmlns:a="http://schemas.openxmlformats.org/drawingml/2006/main">
            <a:off x="7620000" y="2133600"/>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72E44"/>
                </a:solidFill>
                <a:latin typeface="DejaVu Sans"/>
                <a:ea typeface="DejaVu Sans"/>
                <a:cs typeface="DejaVu Sans"/>
              </a:defRPr>
            </a:pPr>
            <a:r>
              <a:rPr sz="1800" b="1">
                <a:solidFill>
                  <a:srgbClr val="172E44"/>
                </a:solidFill>
                <a:latin typeface="DejaVu Sans"/>
                <a:ea typeface="DejaVu Sans"/>
                <a:cs typeface="DejaVu Sans"/>
              </a:rPr>
              <a:t>Cap loss near x₁</a:t>
            </a:r>
          </a:p>
        </p:txBody>
      </p:sp>
      <p:sp>
        <p:nvSpPr>
          <p:cNvPr id="10" name="risk-x-axis">
            <a:extLst xmlns:a="http://schemas.openxmlformats.org/drawingml/2006/main">
              <a:ext uri="{FF2B5EF4-FFF2-40B4-BE49-F238E27FC236}">
                <a16:creationId xmlns:a16="http://schemas.microsoft.com/office/drawing/2014/main" id="{C7145EFB-6D83-4E72-A9EF-B494ECBABC37}"/>
              </a:ext>
            </a:extLst>
          </p:cNvPr>
          <p:cNvSpPr>
            <a:spLocks xmlns:a="http://schemas.openxmlformats.org/drawingml/2006/main" noGrp="1"/>
          </p:cNvSpPr>
          <p:nvPr/>
        </p:nvSpPr>
        <p:spPr>
          <a:xfrm xmlns:a="http://schemas.openxmlformats.org/drawingml/2006/main">
            <a:off x="7639050" y="4857750"/>
            <a:ext cx="3620366" cy="953"/>
          </a:xfrm>
          <a:custGeom xmlns:a="http://schemas.openxmlformats.org/drawingml/2006/main">
            <a:pathLst>
              <a:path w="3620366" h="953">
                <a:moveTo>
                  <a:pt x="0" y="0"/>
                </a:moveTo>
                <a:lnTo>
                  <a:pt x="3620366" y="0"/>
                </a:lnTo>
              </a:path>
            </a:pathLst>
          </a:custGeom>
          <a:noFill xmlns:a="http://schemas.openxmlformats.org/drawingml/2006/main"/>
          <a:ln xmlns:a="http://schemas.openxmlformats.org/drawingml/2006/main" w="14288">
            <a:solidFill>
              <a:srgbClr val="172E44"/>
            </a:solidFill>
            <a:prstDash val="solid"/>
          </a:ln>
        </p:spPr>
      </p:sp>
      <p:sp>
        <p:nvSpPr>
          <p:cNvPr id="11" name="risk-x-axis-arrow">
            <a:extLst xmlns:a="http://schemas.openxmlformats.org/drawingml/2006/main">
              <a:ext uri="{FF2B5EF4-FFF2-40B4-BE49-F238E27FC236}">
                <a16:creationId xmlns:a16="http://schemas.microsoft.com/office/drawing/2014/main" id="{52F241D1-A05A-47AE-A04D-66EB8346C8C4}"/>
              </a:ext>
            </a:extLst>
          </p:cNvPr>
          <p:cNvSpPr>
            <a:spLocks xmlns:a="http://schemas.openxmlformats.org/drawingml/2006/main" noGrp="1"/>
          </p:cNvSpPr>
          <p:nvPr/>
        </p:nvSpPr>
        <p:spPr>
          <a:xfrm xmlns:a="http://schemas.openxmlformats.org/drawingml/2006/main">
            <a:off x="11183216" y="4819650"/>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E44"/>
          </a:solidFill>
          <a:ln xmlns:a="http://schemas.openxmlformats.org/drawingml/2006/main" w="5715">
            <a:solidFill>
              <a:srgbClr val="172E44"/>
            </a:solidFill>
            <a:prstDash val="solid"/>
          </a:ln>
        </p:spPr>
      </p:sp>
      <p:sp>
        <p:nvSpPr>
          <p:cNvPr id="12" name="local-cap-loss">
            <a:extLst xmlns:a="http://schemas.openxmlformats.org/drawingml/2006/main">
              <a:ext uri="{FF2B5EF4-FFF2-40B4-BE49-F238E27FC236}">
                <a16:creationId xmlns:a16="http://schemas.microsoft.com/office/drawing/2014/main" id="{A6F30143-8156-462C-AFDD-0A9BB2C2787C}"/>
              </a:ext>
            </a:extLst>
          </p:cNvPr>
          <p:cNvSpPr>
            <a:spLocks xmlns:a="http://schemas.openxmlformats.org/drawingml/2006/main" noGrp="1"/>
          </p:cNvSpPr>
          <p:nvPr/>
        </p:nvSpPr>
        <p:spPr>
          <a:xfrm xmlns:a="http://schemas.openxmlformats.org/drawingml/2006/main">
            <a:off x="7719147" y="2963049"/>
            <a:ext cx="3332018" cy="1894701"/>
          </a:xfrm>
          <a:custGeom xmlns:a="http://schemas.openxmlformats.org/drawingml/2006/main">
            <a:pathLst>
              <a:path w="3332018" h="1894701">
                <a:moveTo>
                  <a:pt x="0" y="1894701"/>
                </a:moveTo>
                <a:lnTo>
                  <a:pt x="47600" y="1894701"/>
                </a:lnTo>
                <a:lnTo>
                  <a:pt x="95201" y="1894701"/>
                </a:lnTo>
                <a:lnTo>
                  <a:pt x="142801" y="1894701"/>
                </a:lnTo>
                <a:lnTo>
                  <a:pt x="190401" y="1894701"/>
                </a:lnTo>
                <a:lnTo>
                  <a:pt x="238001" y="1894701"/>
                </a:lnTo>
                <a:lnTo>
                  <a:pt x="285602" y="1894701"/>
                </a:lnTo>
                <a:lnTo>
                  <a:pt x="333202" y="1894701"/>
                </a:lnTo>
                <a:lnTo>
                  <a:pt x="380802" y="1894701"/>
                </a:lnTo>
                <a:lnTo>
                  <a:pt x="428402" y="1894701"/>
                </a:lnTo>
                <a:lnTo>
                  <a:pt x="476003" y="1894701"/>
                </a:lnTo>
                <a:lnTo>
                  <a:pt x="523603" y="1894701"/>
                </a:lnTo>
                <a:lnTo>
                  <a:pt x="571203" y="1894701"/>
                </a:lnTo>
                <a:lnTo>
                  <a:pt x="618803" y="1894701"/>
                </a:lnTo>
                <a:lnTo>
                  <a:pt x="666404" y="1894701"/>
                </a:lnTo>
                <a:lnTo>
                  <a:pt x="714004" y="1894701"/>
                </a:lnTo>
                <a:lnTo>
                  <a:pt x="761604" y="1894701"/>
                </a:lnTo>
                <a:lnTo>
                  <a:pt x="809204" y="1894701"/>
                </a:lnTo>
                <a:lnTo>
                  <a:pt x="856805" y="1894701"/>
                </a:lnTo>
                <a:lnTo>
                  <a:pt x="904405" y="1894701"/>
                </a:lnTo>
                <a:lnTo>
                  <a:pt x="952005" y="1894701"/>
                </a:lnTo>
                <a:lnTo>
                  <a:pt x="999605" y="1894701"/>
                </a:lnTo>
                <a:lnTo>
                  <a:pt x="1047206" y="1894701"/>
                </a:lnTo>
                <a:lnTo>
                  <a:pt x="1094806" y="1894701"/>
                </a:lnTo>
                <a:lnTo>
                  <a:pt x="1142406" y="1894701"/>
                </a:lnTo>
                <a:lnTo>
                  <a:pt x="1190006" y="1894701"/>
                </a:lnTo>
                <a:lnTo>
                  <a:pt x="1237607" y="1894701"/>
                </a:lnTo>
                <a:lnTo>
                  <a:pt x="1285207" y="1894701"/>
                </a:lnTo>
                <a:lnTo>
                  <a:pt x="1332807" y="1894701"/>
                </a:lnTo>
                <a:lnTo>
                  <a:pt x="1380408" y="1894701"/>
                </a:lnTo>
                <a:lnTo>
                  <a:pt x="1428008" y="1894701"/>
                </a:lnTo>
                <a:lnTo>
                  <a:pt x="1475608" y="1894701"/>
                </a:lnTo>
                <a:lnTo>
                  <a:pt x="1523208" y="1894701"/>
                </a:lnTo>
                <a:lnTo>
                  <a:pt x="1570809" y="1894701"/>
                </a:lnTo>
                <a:lnTo>
                  <a:pt x="1618409" y="1894701"/>
                </a:lnTo>
                <a:lnTo>
                  <a:pt x="1666009" y="1894701"/>
                </a:lnTo>
                <a:lnTo>
                  <a:pt x="1713609" y="1894007"/>
                </a:lnTo>
                <a:lnTo>
                  <a:pt x="1761210" y="1890338"/>
                </a:lnTo>
                <a:lnTo>
                  <a:pt x="1808810" y="1883515"/>
                </a:lnTo>
                <a:lnTo>
                  <a:pt x="1856410" y="1873538"/>
                </a:lnTo>
                <a:lnTo>
                  <a:pt x="1904010" y="1860407"/>
                </a:lnTo>
                <a:lnTo>
                  <a:pt x="1951611" y="1844123"/>
                </a:lnTo>
                <a:lnTo>
                  <a:pt x="1999211" y="1824685"/>
                </a:lnTo>
                <a:lnTo>
                  <a:pt x="2046811" y="1802093"/>
                </a:lnTo>
                <a:lnTo>
                  <a:pt x="2094411" y="1776348"/>
                </a:lnTo>
                <a:lnTo>
                  <a:pt x="2142012" y="1747449"/>
                </a:lnTo>
                <a:lnTo>
                  <a:pt x="2189612" y="1715396"/>
                </a:lnTo>
                <a:lnTo>
                  <a:pt x="2237212" y="1680189"/>
                </a:lnTo>
                <a:lnTo>
                  <a:pt x="2284812" y="1641829"/>
                </a:lnTo>
                <a:lnTo>
                  <a:pt x="2332413" y="1600314"/>
                </a:lnTo>
                <a:lnTo>
                  <a:pt x="2380013" y="1555646"/>
                </a:lnTo>
                <a:lnTo>
                  <a:pt x="2427613" y="1507825"/>
                </a:lnTo>
                <a:lnTo>
                  <a:pt x="2475214" y="1456849"/>
                </a:lnTo>
                <a:lnTo>
                  <a:pt x="2522814" y="1402720"/>
                </a:lnTo>
                <a:lnTo>
                  <a:pt x="2570414" y="1345437"/>
                </a:lnTo>
                <a:lnTo>
                  <a:pt x="2618014" y="1285000"/>
                </a:lnTo>
                <a:lnTo>
                  <a:pt x="2665615" y="1221410"/>
                </a:lnTo>
                <a:lnTo>
                  <a:pt x="2713215" y="1154666"/>
                </a:lnTo>
                <a:lnTo>
                  <a:pt x="2760815" y="1084768"/>
                </a:lnTo>
                <a:lnTo>
                  <a:pt x="2808415" y="1011716"/>
                </a:lnTo>
                <a:lnTo>
                  <a:pt x="2856016" y="935511"/>
                </a:lnTo>
                <a:lnTo>
                  <a:pt x="2903616" y="856151"/>
                </a:lnTo>
                <a:lnTo>
                  <a:pt x="2951216" y="773638"/>
                </a:lnTo>
                <a:lnTo>
                  <a:pt x="2998816" y="687972"/>
                </a:lnTo>
                <a:lnTo>
                  <a:pt x="3046417" y="599151"/>
                </a:lnTo>
                <a:lnTo>
                  <a:pt x="3094017" y="507177"/>
                </a:lnTo>
                <a:lnTo>
                  <a:pt x="3141617" y="412049"/>
                </a:lnTo>
                <a:lnTo>
                  <a:pt x="3189217" y="313767"/>
                </a:lnTo>
                <a:lnTo>
                  <a:pt x="3236818" y="212332"/>
                </a:lnTo>
                <a:lnTo>
                  <a:pt x="3284418" y="107743"/>
                </a:lnTo>
                <a:lnTo>
                  <a:pt x="3332018" y="0"/>
                </a:lnTo>
              </a:path>
            </a:pathLst>
          </a:custGeom>
          <a:noFill xmlns:a="http://schemas.openxmlformats.org/drawingml/2006/main"/>
          <a:ln xmlns:a="http://schemas.openxmlformats.org/drawingml/2006/main" w="31433">
            <a:solidFill>
              <a:srgbClr val="087E8B"/>
            </a:solidFill>
            <a:prstDash val="solid"/>
          </a:ln>
        </p:spPr>
      </p:sp>
      <p:sp>
        <p:nvSpPr>
          <p:cNvPr id="13" name="expectation-chord">
            <a:extLst xmlns:a="http://schemas.openxmlformats.org/drawingml/2006/main">
              <a:ext uri="{FF2B5EF4-FFF2-40B4-BE49-F238E27FC236}">
                <a16:creationId xmlns:a16="http://schemas.microsoft.com/office/drawing/2014/main" id="{A6845BDD-D577-4659-8B47-8C52FEB01155}"/>
              </a:ext>
            </a:extLst>
          </p:cNvPr>
          <p:cNvSpPr>
            <a:spLocks xmlns:a="http://schemas.openxmlformats.org/drawingml/2006/main" noGrp="1"/>
          </p:cNvSpPr>
          <p:nvPr/>
        </p:nvSpPr>
        <p:spPr>
          <a:xfrm xmlns:a="http://schemas.openxmlformats.org/drawingml/2006/main">
            <a:off x="7959436" y="3411141"/>
            <a:ext cx="2883477" cy="1446609"/>
          </a:xfrm>
          <a:custGeom xmlns:a="http://schemas.openxmlformats.org/drawingml/2006/main">
            <a:pathLst>
              <a:path w="2883477" h="1446609">
                <a:moveTo>
                  <a:pt x="0" y="1446609"/>
                </a:moveTo>
                <a:lnTo>
                  <a:pt x="2883477" y="0"/>
                </a:lnTo>
              </a:path>
            </a:pathLst>
          </a:custGeom>
          <a:noFill xmlns:a="http://schemas.openxmlformats.org/drawingml/2006/main"/>
          <a:ln xmlns:a="http://schemas.openxmlformats.org/drawingml/2006/main" w="19050">
            <a:solidFill>
              <a:srgbClr val="B45A3C"/>
            </a:solidFill>
            <a:prstDash val="solid"/>
          </a:ln>
        </p:spPr>
      </p:sp>
      <p:sp>
        <p:nvSpPr>
          <p:cNvPr id="14" name="mean-guide-0">
            <a:extLst xmlns:a="http://schemas.openxmlformats.org/drawingml/2006/main">
              <a:ext uri="{FF2B5EF4-FFF2-40B4-BE49-F238E27FC236}">
                <a16:creationId xmlns:a16="http://schemas.microsoft.com/office/drawing/2014/main" id="{F3421859-E4CD-40DA-BB77-F08A7A6DBF2F}"/>
              </a:ext>
            </a:extLst>
          </p:cNvPr>
          <p:cNvSpPr>
            <a:spLocks xmlns:a="http://schemas.openxmlformats.org/drawingml/2006/main" noGrp="1"/>
          </p:cNvSpPr>
          <p:nvPr/>
        </p:nvSpPr>
        <p:spPr>
          <a:xfrm xmlns:a="http://schemas.openxmlformats.org/drawingml/2006/main">
            <a:off x="9401175" y="4796850"/>
            <a:ext cx="953" cy="60900"/>
          </a:xfrm>
          <a:custGeom xmlns:a="http://schemas.openxmlformats.org/drawingml/2006/main">
            <a:pathLst>
              <a:path w="953" h="60900">
                <a:moveTo>
                  <a:pt x="0" y="60900"/>
                </a:moveTo>
                <a:lnTo>
                  <a:pt x="0" y="0"/>
                </a:lnTo>
              </a:path>
            </a:pathLst>
          </a:custGeom>
          <a:noFill xmlns:a="http://schemas.openxmlformats.org/drawingml/2006/main"/>
          <a:ln xmlns:a="http://schemas.openxmlformats.org/drawingml/2006/main" w="11430">
            <a:solidFill>
              <a:srgbClr val="D4DDE3"/>
            </a:solidFill>
            <a:prstDash val="solid"/>
          </a:ln>
        </p:spPr>
      </p:sp>
      <p:sp>
        <p:nvSpPr>
          <p:cNvPr id="15" name="mean-guide-1">
            <a:extLst xmlns:a="http://schemas.openxmlformats.org/drawingml/2006/main">
              <a:ext uri="{FF2B5EF4-FFF2-40B4-BE49-F238E27FC236}">
                <a16:creationId xmlns:a16="http://schemas.microsoft.com/office/drawing/2014/main" id="{873E17DC-E7E1-4366-8CD2-4C78DF365D92}"/>
              </a:ext>
            </a:extLst>
          </p:cNvPr>
          <p:cNvSpPr>
            <a:spLocks xmlns:a="http://schemas.openxmlformats.org/drawingml/2006/main" noGrp="1"/>
          </p:cNvSpPr>
          <p:nvPr/>
        </p:nvSpPr>
        <p:spPr>
          <a:xfrm xmlns:a="http://schemas.openxmlformats.org/drawingml/2006/main">
            <a:off x="9401175" y="4686121"/>
            <a:ext cx="953" cy="60900"/>
          </a:xfrm>
          <a:custGeom xmlns:a="http://schemas.openxmlformats.org/drawingml/2006/main">
            <a:pathLst>
              <a:path w="953" h="60900">
                <a:moveTo>
                  <a:pt x="0" y="60900"/>
                </a:moveTo>
                <a:lnTo>
                  <a:pt x="0" y="0"/>
                </a:lnTo>
              </a:path>
            </a:pathLst>
          </a:custGeom>
          <a:noFill xmlns:a="http://schemas.openxmlformats.org/drawingml/2006/main"/>
          <a:ln xmlns:a="http://schemas.openxmlformats.org/drawingml/2006/main" w="11430">
            <a:solidFill>
              <a:srgbClr val="D4DDE3"/>
            </a:solidFill>
            <a:prstDash val="solid"/>
          </a:ln>
        </p:spPr>
      </p:sp>
      <p:sp>
        <p:nvSpPr>
          <p:cNvPr id="16" name="mean-guide-2">
            <a:extLst xmlns:a="http://schemas.openxmlformats.org/drawingml/2006/main">
              <a:ext uri="{FF2B5EF4-FFF2-40B4-BE49-F238E27FC236}">
                <a16:creationId xmlns:a16="http://schemas.microsoft.com/office/drawing/2014/main" id="{AE0CF594-B83F-4A50-98FA-E2E1B5AC7406}"/>
              </a:ext>
            </a:extLst>
          </p:cNvPr>
          <p:cNvSpPr>
            <a:spLocks xmlns:a="http://schemas.openxmlformats.org/drawingml/2006/main" noGrp="1"/>
          </p:cNvSpPr>
          <p:nvPr/>
        </p:nvSpPr>
        <p:spPr>
          <a:xfrm xmlns:a="http://schemas.openxmlformats.org/drawingml/2006/main">
            <a:off x="9401175" y="4575393"/>
            <a:ext cx="953" cy="60900"/>
          </a:xfrm>
          <a:custGeom xmlns:a="http://schemas.openxmlformats.org/drawingml/2006/main">
            <a:pathLst>
              <a:path w="953" h="60900">
                <a:moveTo>
                  <a:pt x="0" y="60900"/>
                </a:moveTo>
                <a:lnTo>
                  <a:pt x="0" y="0"/>
                </a:lnTo>
              </a:path>
            </a:pathLst>
          </a:custGeom>
          <a:noFill xmlns:a="http://schemas.openxmlformats.org/drawingml/2006/main"/>
          <a:ln xmlns:a="http://schemas.openxmlformats.org/drawingml/2006/main" w="11430">
            <a:solidFill>
              <a:srgbClr val="D4DDE3"/>
            </a:solidFill>
            <a:prstDash val="solid"/>
          </a:ln>
        </p:spPr>
      </p:sp>
      <p:sp>
        <p:nvSpPr>
          <p:cNvPr id="17" name="mean-guide-3">
            <a:extLst xmlns:a="http://schemas.openxmlformats.org/drawingml/2006/main">
              <a:ext uri="{FF2B5EF4-FFF2-40B4-BE49-F238E27FC236}">
                <a16:creationId xmlns:a16="http://schemas.microsoft.com/office/drawing/2014/main" id="{DBB4745D-81CB-4DF6-9FA8-66E7FCCA47AE}"/>
              </a:ext>
            </a:extLst>
          </p:cNvPr>
          <p:cNvSpPr>
            <a:spLocks xmlns:a="http://schemas.openxmlformats.org/drawingml/2006/main" noGrp="1"/>
          </p:cNvSpPr>
          <p:nvPr/>
        </p:nvSpPr>
        <p:spPr>
          <a:xfrm xmlns:a="http://schemas.openxmlformats.org/drawingml/2006/main">
            <a:off x="9401175" y="4464665"/>
            <a:ext cx="953" cy="60900"/>
          </a:xfrm>
          <a:custGeom xmlns:a="http://schemas.openxmlformats.org/drawingml/2006/main">
            <a:pathLst>
              <a:path w="953" h="60900">
                <a:moveTo>
                  <a:pt x="0" y="60900"/>
                </a:moveTo>
                <a:lnTo>
                  <a:pt x="0" y="0"/>
                </a:lnTo>
              </a:path>
            </a:pathLst>
          </a:custGeom>
          <a:noFill xmlns:a="http://schemas.openxmlformats.org/drawingml/2006/main"/>
          <a:ln xmlns:a="http://schemas.openxmlformats.org/drawingml/2006/main" w="11430">
            <a:solidFill>
              <a:srgbClr val="D4DDE3"/>
            </a:solidFill>
            <a:prstDash val="solid"/>
          </a:ln>
        </p:spPr>
      </p:sp>
      <p:sp>
        <p:nvSpPr>
          <p:cNvPr id="18" name="mean-guide-4">
            <a:extLst xmlns:a="http://schemas.openxmlformats.org/drawingml/2006/main">
              <a:ext uri="{FF2B5EF4-FFF2-40B4-BE49-F238E27FC236}">
                <a16:creationId xmlns:a16="http://schemas.microsoft.com/office/drawing/2014/main" id="{654EE97C-81BA-497C-BF2A-E5DF3BF1F18F}"/>
              </a:ext>
            </a:extLst>
          </p:cNvPr>
          <p:cNvSpPr>
            <a:spLocks xmlns:a="http://schemas.openxmlformats.org/drawingml/2006/main" noGrp="1"/>
          </p:cNvSpPr>
          <p:nvPr/>
        </p:nvSpPr>
        <p:spPr>
          <a:xfrm xmlns:a="http://schemas.openxmlformats.org/drawingml/2006/main">
            <a:off x="9401175" y="4353937"/>
            <a:ext cx="953" cy="60900"/>
          </a:xfrm>
          <a:custGeom xmlns:a="http://schemas.openxmlformats.org/drawingml/2006/main">
            <a:pathLst>
              <a:path w="953" h="60900">
                <a:moveTo>
                  <a:pt x="0" y="60900"/>
                </a:moveTo>
                <a:lnTo>
                  <a:pt x="0" y="0"/>
                </a:lnTo>
              </a:path>
            </a:pathLst>
          </a:custGeom>
          <a:noFill xmlns:a="http://schemas.openxmlformats.org/drawingml/2006/main"/>
          <a:ln xmlns:a="http://schemas.openxmlformats.org/drawingml/2006/main" w="11430">
            <a:solidFill>
              <a:srgbClr val="D4DDE3"/>
            </a:solidFill>
            <a:prstDash val="solid"/>
          </a:ln>
        </p:spPr>
      </p:sp>
      <p:sp>
        <p:nvSpPr>
          <p:cNvPr id="19" name="mean-guide-5">
            <a:extLst xmlns:a="http://schemas.openxmlformats.org/drawingml/2006/main">
              <a:ext uri="{FF2B5EF4-FFF2-40B4-BE49-F238E27FC236}">
                <a16:creationId xmlns:a16="http://schemas.microsoft.com/office/drawing/2014/main" id="{CA1B8BAC-8F33-44D0-8840-07053139AAC0}"/>
              </a:ext>
            </a:extLst>
          </p:cNvPr>
          <p:cNvSpPr>
            <a:spLocks xmlns:a="http://schemas.openxmlformats.org/drawingml/2006/main" noGrp="1"/>
          </p:cNvSpPr>
          <p:nvPr/>
        </p:nvSpPr>
        <p:spPr>
          <a:xfrm xmlns:a="http://schemas.openxmlformats.org/drawingml/2006/main">
            <a:off x="9401175" y="4243209"/>
            <a:ext cx="953" cy="60900"/>
          </a:xfrm>
          <a:custGeom xmlns:a="http://schemas.openxmlformats.org/drawingml/2006/main">
            <a:pathLst>
              <a:path w="953" h="60900">
                <a:moveTo>
                  <a:pt x="0" y="60900"/>
                </a:moveTo>
                <a:lnTo>
                  <a:pt x="0" y="0"/>
                </a:lnTo>
              </a:path>
            </a:pathLst>
          </a:custGeom>
          <a:noFill xmlns:a="http://schemas.openxmlformats.org/drawingml/2006/main"/>
          <a:ln xmlns:a="http://schemas.openxmlformats.org/drawingml/2006/main" w="11430">
            <a:solidFill>
              <a:srgbClr val="D4DDE3"/>
            </a:solidFill>
            <a:prstDash val="solid"/>
          </a:ln>
        </p:spPr>
      </p:sp>
      <p:sp>
        <p:nvSpPr>
          <p:cNvPr id="20" name="mean-guide-6">
            <a:extLst xmlns:a="http://schemas.openxmlformats.org/drawingml/2006/main">
              <a:ext uri="{FF2B5EF4-FFF2-40B4-BE49-F238E27FC236}">
                <a16:creationId xmlns:a16="http://schemas.microsoft.com/office/drawing/2014/main" id="{65CCD16A-FE0A-4049-9A9F-C33E3AEF0436}"/>
              </a:ext>
            </a:extLst>
          </p:cNvPr>
          <p:cNvSpPr>
            <a:spLocks xmlns:a="http://schemas.openxmlformats.org/drawingml/2006/main" noGrp="1"/>
          </p:cNvSpPr>
          <p:nvPr/>
        </p:nvSpPr>
        <p:spPr>
          <a:xfrm xmlns:a="http://schemas.openxmlformats.org/drawingml/2006/main">
            <a:off x="9401175" y="4132481"/>
            <a:ext cx="953" cy="60900"/>
          </a:xfrm>
          <a:custGeom xmlns:a="http://schemas.openxmlformats.org/drawingml/2006/main">
            <a:pathLst>
              <a:path w="953" h="60900">
                <a:moveTo>
                  <a:pt x="0" y="60900"/>
                </a:moveTo>
                <a:lnTo>
                  <a:pt x="0" y="0"/>
                </a:lnTo>
              </a:path>
            </a:pathLst>
          </a:custGeom>
          <a:noFill xmlns:a="http://schemas.openxmlformats.org/drawingml/2006/main"/>
          <a:ln xmlns:a="http://schemas.openxmlformats.org/drawingml/2006/main" w="11430">
            <a:solidFill>
              <a:srgbClr val="D4DDE3"/>
            </a:solidFill>
            <a:prstDash val="solid"/>
          </a:ln>
        </p:spPr>
      </p:sp>
      <p:sp>
        <p:nvSpPr>
          <p:cNvPr id="21" name="mean-guide-7">
            <a:extLst xmlns:a="http://schemas.openxmlformats.org/drawingml/2006/main">
              <a:ext uri="{FF2B5EF4-FFF2-40B4-BE49-F238E27FC236}">
                <a16:creationId xmlns:a16="http://schemas.microsoft.com/office/drawing/2014/main" id="{3A14722D-DDE0-4368-BB8C-FBF61AA94C38}"/>
              </a:ext>
            </a:extLst>
          </p:cNvPr>
          <p:cNvSpPr>
            <a:spLocks xmlns:a="http://schemas.openxmlformats.org/drawingml/2006/main" noGrp="1"/>
          </p:cNvSpPr>
          <p:nvPr/>
        </p:nvSpPr>
        <p:spPr>
          <a:xfrm xmlns:a="http://schemas.openxmlformats.org/drawingml/2006/main">
            <a:off x="9401175" y="4021753"/>
            <a:ext cx="953" cy="60900"/>
          </a:xfrm>
          <a:custGeom xmlns:a="http://schemas.openxmlformats.org/drawingml/2006/main">
            <a:pathLst>
              <a:path w="953" h="60900">
                <a:moveTo>
                  <a:pt x="0" y="60900"/>
                </a:moveTo>
                <a:lnTo>
                  <a:pt x="0" y="0"/>
                </a:lnTo>
              </a:path>
            </a:pathLst>
          </a:custGeom>
          <a:noFill xmlns:a="http://schemas.openxmlformats.org/drawingml/2006/main"/>
          <a:ln xmlns:a="http://schemas.openxmlformats.org/drawingml/2006/main" w="11430">
            <a:solidFill>
              <a:srgbClr val="D4DDE3"/>
            </a:solidFill>
            <a:prstDash val="solid"/>
          </a:ln>
        </p:spPr>
      </p:sp>
      <p:sp>
        <p:nvSpPr>
          <p:cNvPr id="22" name="mean-guide-8">
            <a:extLst xmlns:a="http://schemas.openxmlformats.org/drawingml/2006/main">
              <a:ext uri="{FF2B5EF4-FFF2-40B4-BE49-F238E27FC236}">
                <a16:creationId xmlns:a16="http://schemas.microsoft.com/office/drawing/2014/main" id="{CA701409-F52E-4188-A183-EA6DF8C08886}"/>
              </a:ext>
            </a:extLst>
          </p:cNvPr>
          <p:cNvSpPr>
            <a:spLocks xmlns:a="http://schemas.openxmlformats.org/drawingml/2006/main" noGrp="1"/>
          </p:cNvSpPr>
          <p:nvPr/>
        </p:nvSpPr>
        <p:spPr>
          <a:xfrm xmlns:a="http://schemas.openxmlformats.org/drawingml/2006/main">
            <a:off x="9401175" y="3911025"/>
            <a:ext cx="953" cy="60900"/>
          </a:xfrm>
          <a:custGeom xmlns:a="http://schemas.openxmlformats.org/drawingml/2006/main">
            <a:pathLst>
              <a:path w="953" h="60900">
                <a:moveTo>
                  <a:pt x="0" y="60900"/>
                </a:moveTo>
                <a:lnTo>
                  <a:pt x="0" y="0"/>
                </a:lnTo>
              </a:path>
            </a:pathLst>
          </a:custGeom>
          <a:noFill xmlns:a="http://schemas.openxmlformats.org/drawingml/2006/main"/>
          <a:ln xmlns:a="http://schemas.openxmlformats.org/drawingml/2006/main" w="11430">
            <a:solidFill>
              <a:srgbClr val="D4DDE3"/>
            </a:solidFill>
            <a:prstDash val="solid"/>
          </a:ln>
        </p:spPr>
      </p:sp>
      <p:sp>
        <p:nvSpPr>
          <p:cNvPr id="23" name="mean-guide-9">
            <a:extLst xmlns:a="http://schemas.openxmlformats.org/drawingml/2006/main">
              <a:ext uri="{FF2B5EF4-FFF2-40B4-BE49-F238E27FC236}">
                <a16:creationId xmlns:a16="http://schemas.microsoft.com/office/drawing/2014/main" id="{63A94A38-F469-457C-878A-47EB3736E37F}"/>
              </a:ext>
            </a:extLst>
          </p:cNvPr>
          <p:cNvSpPr>
            <a:spLocks xmlns:a="http://schemas.openxmlformats.org/drawingml/2006/main" noGrp="1"/>
          </p:cNvSpPr>
          <p:nvPr/>
        </p:nvSpPr>
        <p:spPr>
          <a:xfrm xmlns:a="http://schemas.openxmlformats.org/drawingml/2006/main">
            <a:off x="9401175" y="3800296"/>
            <a:ext cx="953" cy="60900"/>
          </a:xfrm>
          <a:custGeom xmlns:a="http://schemas.openxmlformats.org/drawingml/2006/main">
            <a:pathLst>
              <a:path w="953" h="60900">
                <a:moveTo>
                  <a:pt x="0" y="60900"/>
                </a:moveTo>
                <a:lnTo>
                  <a:pt x="0" y="0"/>
                </a:lnTo>
              </a:path>
            </a:pathLst>
          </a:custGeom>
          <a:noFill xmlns:a="http://schemas.openxmlformats.org/drawingml/2006/main"/>
          <a:ln xmlns:a="http://schemas.openxmlformats.org/drawingml/2006/main" w="11430">
            <a:solidFill>
              <a:srgbClr val="D4DDE3"/>
            </a:solidFill>
            <a:prstDash val="solid"/>
          </a:ln>
        </p:spPr>
      </p:sp>
      <p:sp>
        <p:nvSpPr>
          <p:cNvPr id="24" name="mean-guide-10">
            <a:extLst xmlns:a="http://schemas.openxmlformats.org/drawingml/2006/main">
              <a:ext uri="{FF2B5EF4-FFF2-40B4-BE49-F238E27FC236}">
                <a16:creationId xmlns:a16="http://schemas.microsoft.com/office/drawing/2014/main" id="{C99F716E-0398-454A-AF0C-CF07E33D4F90}"/>
              </a:ext>
            </a:extLst>
          </p:cNvPr>
          <p:cNvSpPr>
            <a:spLocks xmlns:a="http://schemas.openxmlformats.org/drawingml/2006/main" noGrp="1"/>
          </p:cNvSpPr>
          <p:nvPr/>
        </p:nvSpPr>
        <p:spPr>
          <a:xfrm xmlns:a="http://schemas.openxmlformats.org/drawingml/2006/main">
            <a:off x="9401175" y="3689568"/>
            <a:ext cx="953" cy="60900"/>
          </a:xfrm>
          <a:custGeom xmlns:a="http://schemas.openxmlformats.org/drawingml/2006/main">
            <a:pathLst>
              <a:path w="953" h="60900">
                <a:moveTo>
                  <a:pt x="0" y="60900"/>
                </a:moveTo>
                <a:lnTo>
                  <a:pt x="0" y="0"/>
                </a:lnTo>
              </a:path>
            </a:pathLst>
          </a:custGeom>
          <a:noFill xmlns:a="http://schemas.openxmlformats.org/drawingml/2006/main"/>
          <a:ln xmlns:a="http://schemas.openxmlformats.org/drawingml/2006/main" w="11430">
            <a:solidFill>
              <a:srgbClr val="D4DDE3"/>
            </a:solidFill>
            <a:prstDash val="solid"/>
          </a:ln>
        </p:spPr>
      </p:sp>
      <p:sp>
        <p:nvSpPr>
          <p:cNvPr id="25" name="mean-guide-11">
            <a:extLst xmlns:a="http://schemas.openxmlformats.org/drawingml/2006/main">
              <a:ext uri="{FF2B5EF4-FFF2-40B4-BE49-F238E27FC236}">
                <a16:creationId xmlns:a16="http://schemas.microsoft.com/office/drawing/2014/main" id="{15A39799-F5A9-4256-A239-243E9621B75E}"/>
              </a:ext>
            </a:extLst>
          </p:cNvPr>
          <p:cNvSpPr>
            <a:spLocks xmlns:a="http://schemas.openxmlformats.org/drawingml/2006/main" noGrp="1"/>
          </p:cNvSpPr>
          <p:nvPr/>
        </p:nvSpPr>
        <p:spPr>
          <a:xfrm xmlns:a="http://schemas.openxmlformats.org/drawingml/2006/main">
            <a:off x="9401175" y="3578840"/>
            <a:ext cx="953" cy="60900"/>
          </a:xfrm>
          <a:custGeom xmlns:a="http://schemas.openxmlformats.org/drawingml/2006/main">
            <a:pathLst>
              <a:path w="953" h="60900">
                <a:moveTo>
                  <a:pt x="0" y="60900"/>
                </a:moveTo>
                <a:lnTo>
                  <a:pt x="0" y="0"/>
                </a:lnTo>
              </a:path>
            </a:pathLst>
          </a:custGeom>
          <a:noFill xmlns:a="http://schemas.openxmlformats.org/drawingml/2006/main"/>
          <a:ln xmlns:a="http://schemas.openxmlformats.org/drawingml/2006/main" w="11430">
            <a:solidFill>
              <a:srgbClr val="D4DDE3"/>
            </a:solidFill>
            <a:prstDash val="solid"/>
          </a:ln>
        </p:spPr>
      </p:sp>
      <p:sp>
        <p:nvSpPr>
          <p:cNvPr id="26" name="mean-guide-12">
            <a:extLst xmlns:a="http://schemas.openxmlformats.org/drawingml/2006/main">
              <a:ext uri="{FF2B5EF4-FFF2-40B4-BE49-F238E27FC236}">
                <a16:creationId xmlns:a16="http://schemas.microsoft.com/office/drawing/2014/main" id="{C993B406-6091-4BCB-91B5-176017ACE2B1}"/>
              </a:ext>
            </a:extLst>
          </p:cNvPr>
          <p:cNvSpPr>
            <a:spLocks xmlns:a="http://schemas.openxmlformats.org/drawingml/2006/main" noGrp="1"/>
          </p:cNvSpPr>
          <p:nvPr/>
        </p:nvSpPr>
        <p:spPr>
          <a:xfrm xmlns:a="http://schemas.openxmlformats.org/drawingml/2006/main">
            <a:off x="9401175" y="3468112"/>
            <a:ext cx="953" cy="60900"/>
          </a:xfrm>
          <a:custGeom xmlns:a="http://schemas.openxmlformats.org/drawingml/2006/main">
            <a:pathLst>
              <a:path w="953" h="60900">
                <a:moveTo>
                  <a:pt x="0" y="60900"/>
                </a:moveTo>
                <a:lnTo>
                  <a:pt x="0" y="0"/>
                </a:lnTo>
              </a:path>
            </a:pathLst>
          </a:custGeom>
          <a:noFill xmlns:a="http://schemas.openxmlformats.org/drawingml/2006/main"/>
          <a:ln xmlns:a="http://schemas.openxmlformats.org/drawingml/2006/main" w="11430">
            <a:solidFill>
              <a:srgbClr val="D4DDE3"/>
            </a:solidFill>
            <a:prstDash val="solid"/>
          </a:ln>
        </p:spPr>
      </p:sp>
      <p:sp>
        <p:nvSpPr>
          <p:cNvPr id="27" name="mean-guide-13">
            <a:extLst xmlns:a="http://schemas.openxmlformats.org/drawingml/2006/main">
              <a:ext uri="{FF2B5EF4-FFF2-40B4-BE49-F238E27FC236}">
                <a16:creationId xmlns:a16="http://schemas.microsoft.com/office/drawing/2014/main" id="{29CCCF45-1AC6-40D5-B761-0E9F2B22FC27}"/>
              </a:ext>
            </a:extLst>
          </p:cNvPr>
          <p:cNvSpPr>
            <a:spLocks xmlns:a="http://schemas.openxmlformats.org/drawingml/2006/main" noGrp="1"/>
          </p:cNvSpPr>
          <p:nvPr/>
        </p:nvSpPr>
        <p:spPr>
          <a:xfrm xmlns:a="http://schemas.openxmlformats.org/drawingml/2006/main">
            <a:off x="9401175" y="3357384"/>
            <a:ext cx="953" cy="60900"/>
          </a:xfrm>
          <a:custGeom xmlns:a="http://schemas.openxmlformats.org/drawingml/2006/main">
            <a:pathLst>
              <a:path w="953" h="60900">
                <a:moveTo>
                  <a:pt x="0" y="60900"/>
                </a:moveTo>
                <a:lnTo>
                  <a:pt x="0" y="0"/>
                </a:lnTo>
              </a:path>
            </a:pathLst>
          </a:custGeom>
          <a:noFill xmlns:a="http://schemas.openxmlformats.org/drawingml/2006/main"/>
          <a:ln xmlns:a="http://schemas.openxmlformats.org/drawingml/2006/main" w="11430">
            <a:solidFill>
              <a:srgbClr val="D4DDE3"/>
            </a:solidFill>
            <a:prstDash val="solid"/>
          </a:ln>
        </p:spPr>
      </p:sp>
      <p:sp>
        <p:nvSpPr>
          <p:cNvPr id="28" name="mean-guide-14">
            <a:extLst xmlns:a="http://schemas.openxmlformats.org/drawingml/2006/main">
              <a:ext uri="{FF2B5EF4-FFF2-40B4-BE49-F238E27FC236}">
                <a16:creationId xmlns:a16="http://schemas.microsoft.com/office/drawing/2014/main" id="{A57CC429-4C54-4343-AEDF-FEDFFECE2B83}"/>
              </a:ext>
            </a:extLst>
          </p:cNvPr>
          <p:cNvSpPr>
            <a:spLocks xmlns:a="http://schemas.openxmlformats.org/drawingml/2006/main" noGrp="1"/>
          </p:cNvSpPr>
          <p:nvPr/>
        </p:nvSpPr>
        <p:spPr>
          <a:xfrm xmlns:a="http://schemas.openxmlformats.org/drawingml/2006/main">
            <a:off x="9401175" y="3246656"/>
            <a:ext cx="953" cy="60900"/>
          </a:xfrm>
          <a:custGeom xmlns:a="http://schemas.openxmlformats.org/drawingml/2006/main">
            <a:pathLst>
              <a:path w="953" h="60900">
                <a:moveTo>
                  <a:pt x="0" y="60900"/>
                </a:moveTo>
                <a:lnTo>
                  <a:pt x="0" y="0"/>
                </a:lnTo>
              </a:path>
            </a:pathLst>
          </a:custGeom>
          <a:noFill xmlns:a="http://schemas.openxmlformats.org/drawingml/2006/main"/>
          <a:ln xmlns:a="http://schemas.openxmlformats.org/drawingml/2006/main" w="11430">
            <a:solidFill>
              <a:srgbClr val="D4DDE3"/>
            </a:solidFill>
            <a:prstDash val="solid"/>
          </a:ln>
        </p:spPr>
      </p:sp>
      <p:sp>
        <p:nvSpPr>
          <p:cNvPr id="29" name="extra-risk-cost">
            <a:extLst xmlns:a="http://schemas.openxmlformats.org/drawingml/2006/main">
              <a:ext uri="{FF2B5EF4-FFF2-40B4-BE49-F238E27FC236}">
                <a16:creationId xmlns:a16="http://schemas.microsoft.com/office/drawing/2014/main" id="{20FF152A-7A81-46FB-BFD8-99576C993941}"/>
              </a:ext>
            </a:extLst>
          </p:cNvPr>
          <p:cNvSpPr>
            <a:spLocks xmlns:a="http://schemas.openxmlformats.org/drawingml/2006/main" noGrp="1"/>
          </p:cNvSpPr>
          <p:nvPr/>
        </p:nvSpPr>
        <p:spPr>
          <a:xfrm xmlns:a="http://schemas.openxmlformats.org/drawingml/2006/main">
            <a:off x="9401175" y="4134445"/>
            <a:ext cx="953" cy="723305"/>
          </a:xfrm>
          <a:custGeom xmlns:a="http://schemas.openxmlformats.org/drawingml/2006/main">
            <a:pathLst>
              <a:path w="953" h="723305">
                <a:moveTo>
                  <a:pt x="0" y="723305"/>
                </a:moveTo>
                <a:lnTo>
                  <a:pt x="0" y="0"/>
                </a:lnTo>
              </a:path>
            </a:pathLst>
          </a:custGeom>
          <a:noFill xmlns:a="http://schemas.openxmlformats.org/drawingml/2006/main"/>
          <a:ln xmlns:a="http://schemas.openxmlformats.org/drawingml/2006/main" w="40958">
            <a:solidFill>
              <a:srgbClr val="B45A3C"/>
            </a:solidFill>
            <a:prstDash val="solid"/>
          </a:ln>
        </p:spPr>
      </p:sp>
      <p:sp>
        <p:nvSpPr>
          <p:cNvPr id="30" name="low-state">
            <a:extLst xmlns:a="http://schemas.openxmlformats.org/drawingml/2006/main">
              <a:ext uri="{FF2B5EF4-FFF2-40B4-BE49-F238E27FC236}">
                <a16:creationId xmlns:a16="http://schemas.microsoft.com/office/drawing/2014/main" id="{C024587C-7C6F-4D79-A59F-4060C52E837C}"/>
              </a:ext>
            </a:extLst>
          </p:cNvPr>
          <p:cNvSpPr>
            <a:spLocks xmlns:a="http://schemas.openxmlformats.org/drawingml/2006/main" noGrp="1"/>
          </p:cNvSpPr>
          <p:nvPr/>
        </p:nvSpPr>
        <p:spPr>
          <a:xfrm xmlns:a="http://schemas.openxmlformats.org/drawingml/2006/main">
            <a:off x="7916574" y="4814888"/>
            <a:ext cx="85725" cy="85725"/>
          </a:xfrm>
          <a:prstGeom xmlns:a="http://schemas.openxmlformats.org/drawingml/2006/main" prst="ellipse">
            <a:avLst/>
          </a:prstGeom>
          <a:solidFill xmlns:a="http://schemas.openxmlformats.org/drawingml/2006/main">
            <a:srgbClr val="087E8B"/>
          </a:solidFill>
          <a:ln xmlns:a="http://schemas.openxmlformats.org/drawingml/2006/main" w="0">
            <a:solidFill>
              <a:srgbClr val="087E8B"/>
            </a:solidFill>
          </a:ln>
        </p:spPr>
      </p:sp>
      <p:sp>
        <p:nvSpPr>
          <p:cNvPr id="31" name="high-state">
            <a:extLst xmlns:a="http://schemas.openxmlformats.org/drawingml/2006/main">
              <a:ext uri="{FF2B5EF4-FFF2-40B4-BE49-F238E27FC236}">
                <a16:creationId xmlns:a16="http://schemas.microsoft.com/office/drawing/2014/main" id="{81B369C5-D513-4DA5-89A6-8405FBB825AD}"/>
              </a:ext>
            </a:extLst>
          </p:cNvPr>
          <p:cNvSpPr>
            <a:spLocks xmlns:a="http://schemas.openxmlformats.org/drawingml/2006/main" noGrp="1"/>
          </p:cNvSpPr>
          <p:nvPr/>
        </p:nvSpPr>
        <p:spPr>
          <a:xfrm xmlns:a="http://schemas.openxmlformats.org/drawingml/2006/main">
            <a:off x="10800051" y="3368278"/>
            <a:ext cx="85725" cy="85725"/>
          </a:xfrm>
          <a:prstGeom xmlns:a="http://schemas.openxmlformats.org/drawingml/2006/main" prst="ellipse">
            <a:avLst/>
          </a:prstGeom>
          <a:solidFill xmlns:a="http://schemas.openxmlformats.org/drawingml/2006/main">
            <a:srgbClr val="087E8B"/>
          </a:solidFill>
          <a:ln xmlns:a="http://schemas.openxmlformats.org/drawingml/2006/main" w="0">
            <a:solidFill>
              <a:srgbClr val="087E8B"/>
            </a:solidFill>
          </a:ln>
        </p:spPr>
      </p:sp>
      <p:sp>
        <p:nvSpPr>
          <p:cNvPr id="32" name="certainty-mean">
            <a:extLst xmlns:a="http://schemas.openxmlformats.org/drawingml/2006/main">
              <a:ext uri="{FF2B5EF4-FFF2-40B4-BE49-F238E27FC236}">
                <a16:creationId xmlns:a16="http://schemas.microsoft.com/office/drawing/2014/main" id="{948A8DB1-40ED-47A3-8D65-AD8977777C80}"/>
              </a:ext>
            </a:extLst>
          </p:cNvPr>
          <p:cNvSpPr>
            <a:spLocks xmlns:a="http://schemas.openxmlformats.org/drawingml/2006/main" noGrp="1"/>
          </p:cNvSpPr>
          <p:nvPr/>
        </p:nvSpPr>
        <p:spPr>
          <a:xfrm xmlns:a="http://schemas.openxmlformats.org/drawingml/2006/main">
            <a:off x="9352598" y="4809173"/>
            <a:ext cx="97155" cy="97155"/>
          </a:xfrm>
          <a:prstGeom xmlns:a="http://schemas.openxmlformats.org/drawingml/2006/main" prst="ellipse">
            <a:avLst/>
          </a:prstGeom>
          <a:solidFill xmlns:a="http://schemas.openxmlformats.org/drawingml/2006/main">
            <a:srgbClr val="087E8B"/>
          </a:solidFill>
          <a:ln xmlns:a="http://schemas.openxmlformats.org/drawingml/2006/main" w="0">
            <a:solidFill>
              <a:srgbClr val="087E8B"/>
            </a:solidFill>
          </a:ln>
        </p:spPr>
      </p:sp>
      <p:sp>
        <p:nvSpPr>
          <p:cNvPr id="33" name="expected-loss">
            <a:extLst xmlns:a="http://schemas.openxmlformats.org/drawingml/2006/main">
              <a:ext uri="{FF2B5EF4-FFF2-40B4-BE49-F238E27FC236}">
                <a16:creationId xmlns:a16="http://schemas.microsoft.com/office/drawing/2014/main" id="{014412AE-BD82-4146-85A0-C962C6996120}"/>
              </a:ext>
            </a:extLst>
          </p:cNvPr>
          <p:cNvSpPr>
            <a:spLocks xmlns:a="http://schemas.openxmlformats.org/drawingml/2006/main" noGrp="1"/>
          </p:cNvSpPr>
          <p:nvPr/>
        </p:nvSpPr>
        <p:spPr>
          <a:xfrm xmlns:a="http://schemas.openxmlformats.org/drawingml/2006/main">
            <a:off x="9352598" y="4085868"/>
            <a:ext cx="97155" cy="97155"/>
          </a:xfrm>
          <a:prstGeom xmlns:a="http://schemas.openxmlformats.org/drawingml/2006/main" prst="ellipse">
            <a:avLst/>
          </a:prstGeom>
          <a:solidFill xmlns:a="http://schemas.openxmlformats.org/drawingml/2006/main">
            <a:srgbClr val="B45A3C"/>
          </a:solidFill>
          <a:ln xmlns:a="http://schemas.openxmlformats.org/drawingml/2006/main" w="0">
            <a:solidFill>
              <a:srgbClr val="B45A3C"/>
            </a:solidFill>
          </a:ln>
        </p:spPr>
      </p:sp>
      <p:sp>
        <p:nvSpPr>
          <p:cNvPr id="34" name="L-label">
            <a:extLst xmlns:a="http://schemas.openxmlformats.org/drawingml/2006/main">
              <a:ext uri="{FF2B5EF4-FFF2-40B4-BE49-F238E27FC236}">
                <a16:creationId xmlns:a16="http://schemas.microsoft.com/office/drawing/2014/main" id="{9412A6FF-2A29-40FB-A21C-CFCE3FAC9A0D}"/>
              </a:ext>
            </a:extLst>
          </p:cNvPr>
          <p:cNvSpPr>
            <a:spLocks xmlns:a="http://schemas.openxmlformats.org/drawingml/2006/main" noGrp="1"/>
          </p:cNvSpPr>
          <p:nvPr/>
        </p:nvSpPr>
        <p:spPr>
          <a:xfrm xmlns:a="http://schemas.openxmlformats.org/drawingml/2006/main">
            <a:off x="10753725" y="2581275"/>
            <a:ext cx="80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087E8B"/>
                </a:solidFill>
                <a:latin typeface="DejaVu Serif"/>
                <a:ea typeface="DejaVu Serif"/>
                <a:cs typeface="DejaVu Serif"/>
              </a:defRPr>
            </a:pPr>
            <a:r>
              <a:rPr sz="1800" b="0">
                <a:solidFill>
                  <a:srgbClr val="087E8B"/>
                </a:solidFill>
                <a:latin typeface="DejaVu Serif"/>
                <a:ea typeface="DejaVu Serif"/>
                <a:cs typeface="DejaVu Serif"/>
              </a:rPr>
              <a:t>L(x)</a:t>
            </a:r>
          </a:p>
        </p:txBody>
      </p:sp>
      <p:sp>
        <p:nvSpPr>
          <p:cNvPr id="35" name="low-x">
            <a:extLst xmlns:a="http://schemas.openxmlformats.org/drawingml/2006/main">
              <a:ext uri="{FF2B5EF4-FFF2-40B4-BE49-F238E27FC236}">
                <a16:creationId xmlns:a16="http://schemas.microsoft.com/office/drawing/2014/main" id="{C3327FFA-4AA7-4BB8-94AE-552C0C50E730}"/>
              </a:ext>
            </a:extLst>
          </p:cNvPr>
          <p:cNvSpPr>
            <a:spLocks xmlns:a="http://schemas.openxmlformats.org/drawingml/2006/main" noGrp="1"/>
          </p:cNvSpPr>
          <p:nvPr/>
        </p:nvSpPr>
        <p:spPr>
          <a:xfrm xmlns:a="http://schemas.openxmlformats.org/drawingml/2006/main">
            <a:off x="7559386" y="5000625"/>
            <a:ext cx="952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72E44"/>
                </a:solidFill>
                <a:latin typeface="DejaVu Serif"/>
                <a:ea typeface="DejaVu Serif"/>
                <a:cs typeface="DejaVu Serif"/>
              </a:defRPr>
            </a:pPr>
            <a:r>
              <a:rPr sz="1575" b="0">
                <a:solidFill>
                  <a:srgbClr val="172E44"/>
                </a:solidFill>
                <a:latin typeface="DejaVu Serif"/>
                <a:ea typeface="DejaVu Serif"/>
                <a:cs typeface="DejaVu Serif"/>
              </a:rPr>
              <a:t>x₁ − ε</a:t>
            </a:r>
          </a:p>
        </p:txBody>
      </p:sp>
      <p:sp>
        <p:nvSpPr>
          <p:cNvPr id="36" name="mean-x">
            <a:extLst xmlns:a="http://schemas.openxmlformats.org/drawingml/2006/main">
              <a:ext uri="{FF2B5EF4-FFF2-40B4-BE49-F238E27FC236}">
                <a16:creationId xmlns:a16="http://schemas.microsoft.com/office/drawing/2014/main" id="{3387E3BE-EBA0-4647-AA84-1E045B0FC8EE}"/>
              </a:ext>
            </a:extLst>
          </p:cNvPr>
          <p:cNvSpPr>
            <a:spLocks xmlns:a="http://schemas.openxmlformats.org/drawingml/2006/main" noGrp="1"/>
          </p:cNvSpPr>
          <p:nvPr/>
        </p:nvSpPr>
        <p:spPr>
          <a:xfrm xmlns:a="http://schemas.openxmlformats.org/drawingml/2006/main">
            <a:off x="9286875" y="5000625"/>
            <a:ext cx="619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E44"/>
                </a:solidFill>
                <a:latin typeface="DejaVu Serif"/>
                <a:ea typeface="DejaVu Serif"/>
                <a:cs typeface="DejaVu Serif"/>
              </a:defRPr>
            </a:pPr>
            <a:r>
              <a:rPr sz="1650" b="0">
                <a:solidFill>
                  <a:srgbClr val="172E44"/>
                </a:solidFill>
                <a:latin typeface="DejaVu Serif"/>
                <a:ea typeface="DejaVu Serif"/>
                <a:cs typeface="DejaVu Serif"/>
              </a:rPr>
              <a:t>x₁</a:t>
            </a:r>
          </a:p>
        </p:txBody>
      </p:sp>
      <p:sp>
        <p:nvSpPr>
          <p:cNvPr id="37" name="high-x">
            <a:extLst xmlns:a="http://schemas.openxmlformats.org/drawingml/2006/main">
              <a:ext uri="{FF2B5EF4-FFF2-40B4-BE49-F238E27FC236}">
                <a16:creationId xmlns:a16="http://schemas.microsoft.com/office/drawing/2014/main" id="{20695F40-7552-4EBC-A8CD-2C9448CCEA14}"/>
              </a:ext>
            </a:extLst>
          </p:cNvPr>
          <p:cNvSpPr>
            <a:spLocks xmlns:a="http://schemas.openxmlformats.org/drawingml/2006/main" noGrp="1"/>
          </p:cNvSpPr>
          <p:nvPr/>
        </p:nvSpPr>
        <p:spPr>
          <a:xfrm xmlns:a="http://schemas.openxmlformats.org/drawingml/2006/main">
            <a:off x="10442864" y="5000625"/>
            <a:ext cx="952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72E44"/>
                </a:solidFill>
                <a:latin typeface="DejaVu Serif"/>
                <a:ea typeface="DejaVu Serif"/>
                <a:cs typeface="DejaVu Serif"/>
              </a:defRPr>
            </a:pPr>
            <a:r>
              <a:rPr sz="1575" b="0">
                <a:solidFill>
                  <a:srgbClr val="172E44"/>
                </a:solidFill>
                <a:latin typeface="DejaVu Serif"/>
                <a:ea typeface="DejaVu Serif"/>
                <a:cs typeface="DejaVu Serif"/>
              </a:rPr>
              <a:t>x₁ + ε</a:t>
            </a:r>
          </a:p>
        </p:txBody>
      </p:sp>
      <p:sp>
        <p:nvSpPr>
          <p:cNvPr id="38" name="risk-cost-label">
            <a:extLst xmlns:a="http://schemas.openxmlformats.org/drawingml/2006/main">
              <a:ext uri="{FF2B5EF4-FFF2-40B4-BE49-F238E27FC236}">
                <a16:creationId xmlns:a16="http://schemas.microsoft.com/office/drawing/2014/main" id="{23A5491A-B8EB-4563-ABB8-B399333EED51}"/>
              </a:ext>
            </a:extLst>
          </p:cNvPr>
          <p:cNvSpPr>
            <a:spLocks xmlns:a="http://schemas.openxmlformats.org/drawingml/2006/main" noGrp="1"/>
          </p:cNvSpPr>
          <p:nvPr/>
        </p:nvSpPr>
        <p:spPr>
          <a:xfrm xmlns:a="http://schemas.openxmlformats.org/drawingml/2006/main">
            <a:off x="8001000" y="3714750"/>
            <a:ext cx="1295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B45A3C"/>
                </a:solidFill>
                <a:latin typeface="DejaVu Sans"/>
                <a:ea typeface="DejaVu Sans"/>
                <a:cs typeface="DejaVu Sans"/>
              </a:defRPr>
            </a:pPr>
            <a:r>
              <a:rPr sz="1575" b="0">
                <a:solidFill>
                  <a:srgbClr val="B45A3C"/>
                </a:solidFill>
                <a:latin typeface="DejaVu Sans"/>
                <a:ea typeface="DejaVu Sans"/>
                <a:cs typeface="DejaVu Sans"/>
              </a:rPr>
              <a:t>Extra</a:t>
            </a:r>
          </a:p>
          <a:p xmlns:a="http://schemas.openxmlformats.org/drawingml/2006/main">
            <a:pPr algn="l">
              <a:defRPr sz="1575" b="0">
                <a:solidFill>
                  <a:srgbClr val="B45A3C"/>
                </a:solidFill>
                <a:latin typeface="DejaVu Sans"/>
                <a:ea typeface="DejaVu Sans"/>
                <a:cs typeface="DejaVu Sans"/>
              </a:defRPr>
            </a:pPr>
            <a:r>
              <a:rPr sz="1575" b="0">
                <a:solidFill>
                  <a:srgbClr val="B45A3C"/>
                </a:solidFill>
                <a:latin typeface="DejaVu Sans"/>
                <a:ea typeface="DejaVu Sans"/>
                <a:cs typeface="DejaVu Sans"/>
              </a:rPr>
              <a:t>risk cost</a:t>
            </a:r>
          </a:p>
        </p:txBody>
      </p:sp>
      <p:sp>
        <p:nvSpPr>
          <p:cNvPr id="39" name="jensen">
            <a:extLst xmlns:a="http://schemas.openxmlformats.org/drawingml/2006/main">
              <a:ext uri="{FF2B5EF4-FFF2-40B4-BE49-F238E27FC236}">
                <a16:creationId xmlns:a16="http://schemas.microsoft.com/office/drawing/2014/main" id="{8BD0C45E-597A-476B-90CB-886CB8BEABE5}"/>
              </a:ext>
            </a:extLst>
          </p:cNvPr>
          <p:cNvSpPr>
            <a:spLocks xmlns:a="http://schemas.openxmlformats.org/drawingml/2006/main" noGrp="1"/>
          </p:cNvSpPr>
          <p:nvPr/>
        </p:nvSpPr>
        <p:spPr>
          <a:xfrm xmlns:a="http://schemas.openxmlformats.org/drawingml/2006/main">
            <a:off x="7562850" y="5486400"/>
            <a:ext cx="4114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72E44"/>
                </a:solidFill>
                <a:latin typeface="DejaVu Serif"/>
                <a:ea typeface="DejaVu Serif"/>
                <a:cs typeface="DejaVu Serif"/>
              </a:defRPr>
            </a:pPr>
            <a:r>
              <a:rPr sz="1800" b="0">
                <a:solidFill>
                  <a:srgbClr val="172E44"/>
                </a:solidFill>
                <a:latin typeface="DejaVu Serif"/>
                <a:ea typeface="DejaVu Serif"/>
                <a:cs typeface="DejaVu Serif"/>
              </a:rPr>
              <a:t>E[L(X)] &gt; L(E[X]) = 0</a:t>
            </a:r>
          </a:p>
        </p:txBody>
      </p:sp>
      <p:sp>
        <p:nvSpPr>
          <p:cNvPr id="40" name="approximation-note">
            <a:extLst xmlns:a="http://schemas.openxmlformats.org/drawingml/2006/main">
              <a:ext uri="{FF2B5EF4-FFF2-40B4-BE49-F238E27FC236}">
                <a16:creationId xmlns:a16="http://schemas.microsoft.com/office/drawing/2014/main" id="{5E2FB505-DDEA-4BB9-81ED-3C0CD5D6F21E}"/>
              </a:ext>
            </a:extLst>
          </p:cNvPr>
          <p:cNvSpPr>
            <a:spLocks xmlns:a="http://schemas.openxmlformats.org/drawingml/2006/main" noGrp="1"/>
          </p:cNvSpPr>
          <p:nvPr/>
        </p:nvSpPr>
        <p:spPr>
          <a:xfrm xmlns:a="http://schemas.openxmlformats.org/drawingml/2006/main">
            <a:off x="7639050" y="5895975"/>
            <a:ext cx="39338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67481"/>
                </a:solidFill>
                <a:latin typeface="DejaVu Sans"/>
                <a:ea typeface="DejaVu Sans"/>
                <a:cs typeface="DejaVu Sans"/>
              </a:defRPr>
            </a:pPr>
            <a:r>
              <a:rPr sz="1350" b="0">
                <a:solidFill>
                  <a:srgbClr val="667481"/>
                </a:solidFill>
                <a:latin typeface="DejaVu Sans"/>
                <a:ea typeface="DejaVu Sans"/>
                <a:cs typeface="DejaVu Sans"/>
              </a:rPr>
              <a:t>Local quadratic approximation</a:t>
            </a:r>
          </a:p>
        </p:txBody>
      </p:sp>
      <p:sp>
        <p:nvSpPr>
          <p:cNvPr id="41" name="main-result">
            <a:extLst xmlns:a="http://schemas.openxmlformats.org/drawingml/2006/main">
              <a:ext uri="{FF2B5EF4-FFF2-40B4-BE49-F238E27FC236}">
                <a16:creationId xmlns:a16="http://schemas.microsoft.com/office/drawing/2014/main" id="{F14DDD4D-55E8-499E-BBBE-BA2A86FA3139}"/>
              </a:ext>
            </a:extLst>
          </p:cNvPr>
          <p:cNvSpPr>
            <a:spLocks xmlns:a="http://schemas.openxmlformats.org/drawingml/2006/main" noGrp="1"/>
          </p:cNvSpPr>
          <p:nvPr/>
        </p:nvSpPr>
        <p:spPr>
          <a:xfrm xmlns:a="http://schemas.openxmlformats.org/drawingml/2006/main">
            <a:off x="609600" y="5772150"/>
            <a:ext cx="6696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2E44"/>
                </a:solidFill>
                <a:latin typeface="DejaVu Sans"/>
                <a:ea typeface="DejaVu Sans"/>
                <a:cs typeface="DejaVu Sans"/>
              </a:defRPr>
            </a:pPr>
            <a:r>
              <a:rPr sz="1875" b="1">
                <a:solidFill>
                  <a:srgbClr val="172E44"/>
                </a:solidFill>
                <a:latin typeface="DejaVu Sans"/>
                <a:ea typeface="DejaVu Sans"/>
                <a:cs typeface="DejaVu Sans"/>
              </a:rPr>
              <a:t>No transaction cost is needed for this local result.</a:t>
            </a:r>
          </a:p>
        </p:txBody>
      </p:sp>
      <p:sp>
        <p:nvSpPr>
          <p:cNvPr id="42" name="scope2">
            <a:extLst xmlns:a="http://schemas.openxmlformats.org/drawingml/2006/main">
              <a:ext uri="{FF2B5EF4-FFF2-40B4-BE49-F238E27FC236}">
                <a16:creationId xmlns:a16="http://schemas.microsoft.com/office/drawing/2014/main" id="{2B3097C0-1A0A-4CAC-84B0-A7CC7E6D3DC5}"/>
              </a:ext>
            </a:extLst>
          </p:cNvPr>
          <p:cNvSpPr>
            <a:spLocks xmlns:a="http://schemas.openxmlformats.org/drawingml/2006/main" noGrp="1"/>
          </p:cNvSpPr>
          <p:nvPr/>
        </p:nvSpPr>
        <p:spPr>
          <a:xfrm xmlns:a="http://schemas.openxmlformats.org/drawingml/2006/main">
            <a:off x="609600" y="62674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667481"/>
                </a:solidFill>
                <a:latin typeface="DejaVu Sans"/>
                <a:ea typeface="DejaVu Sans"/>
                <a:cs typeface="DejaVu Sans"/>
              </a:defRPr>
            </a:pPr>
            <a:r>
              <a:rPr sz="1425" b="0">
                <a:solidFill>
                  <a:srgbClr val="667481"/>
                </a:solidFill>
                <a:latin typeface="DejaVu Sans"/>
                <a:ea typeface="DejaVu Sans"/>
                <a:cs typeface="DejaVu Sans"/>
              </a:rPr>
              <a:t>Scope: the rental option remains relevant. Saving and tenure choice can change the sign.</a:t>
            </a:r>
          </a:p>
        </p:txBody>
      </p:sp>
      <p:sp>
        <p:nvSpPr>
          <p:cNvPr id="43" name="test">
            <a:extLst xmlns:a="http://schemas.openxmlformats.org/drawingml/2006/main">
              <a:ext uri="{FF2B5EF4-FFF2-40B4-BE49-F238E27FC236}">
                <a16:creationId xmlns:a16="http://schemas.microsoft.com/office/drawing/2014/main" id="{9CDEB080-B6CB-4E1F-9B04-431DBE69D3FF}"/>
              </a:ext>
            </a:extLst>
          </p:cNvPr>
          <p:cNvSpPr>
            <a:spLocks xmlns:a="http://schemas.openxmlformats.org/drawingml/2006/main" noGrp="1"/>
          </p:cNvSpPr>
          <p:nvPr/>
        </p:nvSpPr>
        <p:spPr>
          <a:xfrm xmlns:a="http://schemas.openxmlformats.org/drawingml/2006/main">
            <a:off x="609600" y="65722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67481"/>
                </a:solidFill>
                <a:latin typeface="DejaVu Sans"/>
                <a:ea typeface="DejaVu Sans"/>
                <a:cs typeface="DejaVu Sans"/>
              </a:defRPr>
            </a:pPr>
            <a:r>
              <a:rPr sz="1350" b="0">
                <a:solidFill>
                  <a:srgbClr val="667481"/>
                </a:solidFill>
                <a:latin typeface="DejaVu Sans"/>
                <a:ea typeface="DejaVu Sans"/>
                <a:cs typeface="DejaVu Sans"/>
              </a:rPr>
              <a:t>Test: rental expansion across future risk levels at common states and expected earnings, including zero selling costs.</a:t>
            </a:r>
          </a:p>
        </p:txBody>
      </p:sp>
    </p:spTree>
    <p:extLst>
      <p:ext uri="{BB962C8B-B14F-4D97-AF65-F5344CB8AC3E}">
        <p14:creationId xmlns:p14="http://schemas.microsoft.com/office/powerpoint/2010/main" val="15111572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2026-10-07T03:02:14.6650000Z</dcterms:created>
  <dcterms:modified xsi:type="dcterms:W3CDTF">2026-10-07T03:02:14.6650000Z</dcterms:modified>
</coreProperties>
</file>